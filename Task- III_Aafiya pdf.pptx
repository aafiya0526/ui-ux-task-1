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3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224"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16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builds an empathy map for a typical user of a food delivery app, using the Swiggy app as the example. We'll cover the persona, the four quadrants (says, thinks, does, feels), pains and gains, then needs, frustrations, expectations and what Swiggy can do about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empathy map is a lightweight research tool. Four quadrants describe the user's outer and inner world; pains and gains capture what blocks them and what success looks like. We'll fill in each for one representative Swiggy user.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Fiya is a composite persona, a hypothesis to test rather than a real individual. She represents the frequent, time-pressed food delivery user Swiggy is most likely to compete for.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map. Says and Does are observable; Thinks and Feels are inferred from interviews and behaviour. The gap between what Fiya says and what she feels is often where the best design opportunities hide.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Pains are the obstacles and risks Fiya perceives; gains are the outcomes she wants. Notice how many pains are about broken promises: price, ETA and order accuracy.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needs emerge from the map. They cluster around one theme: certainty. Fiya wants to know what she'll pay, when it arrives and what happens if it goes wrong.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The mood changes from curious to helpless as small problems compound. The biggest emotional drops happen where Swiggy's promise, whether price, ETA or order, meets a different reality.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Kano-style view of expectations. Must-haves are table stakes, expected features keep Swiggy competitive, and delighters are where Swiggy can differentiate.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frustration maps to a design opportunity and a concrete feature idea. These are hypotheses to prototype and test, not commitments.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insight: certainty beats novelty. The empathy map is a living document, so validate it with real users and update it as Swiggy evolves.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5943600" cy="365760"/>
          </a:xfrm>
          <a:prstGeom prst="rect">
            <a:avLst/>
          </a:prstGeom>
          <a:noFill/>
          <a:ln/>
        </p:spPr>
        <p:txBody>
          <a:bodyPr wrap="square" lIns="0" tIns="0" rIns="0" bIns="0" rtlCol="0" anchor="ctr"/>
          <a:lstStyle/>
          <a:p>
            <a:pPr marL="0" indent="0">
              <a:buNone/>
            </a:pPr>
            <a:r>
              <a:rPr lang="en-US" sz="1300" b="1" kern="0" spc="400" dirty="0">
                <a:solidFill>
                  <a:srgbClr val="8FB4FF"/>
                </a:solidFill>
                <a:latin typeface="Calibri" pitchFamily="34" charset="0"/>
                <a:ea typeface="Calibri" pitchFamily="34" charset="-122"/>
                <a:cs typeface="Calibri" pitchFamily="34" charset="-120"/>
              </a:rPr>
              <a:t>USER RESEARCH  ·  UX CASE STUDY</a:t>
            </a:r>
            <a:endParaRPr lang="en-US" sz="1300" dirty="0"/>
          </a:p>
        </p:txBody>
      </p:sp>
      <p:sp>
        <p:nvSpPr>
          <p:cNvPr id="3" name="Text 1"/>
          <p:cNvSpPr txBox="1"/>
          <p:nvPr/>
        </p:nvSpPr>
        <p:spPr>
          <a:xfrm>
            <a:off x="731520" y="1691640"/>
            <a:ext cx="6217920" cy="1097280"/>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Empathy Map</a:t>
            </a:r>
            <a:endParaRPr lang="en-US" sz="6200" dirty="0"/>
          </a:p>
        </p:txBody>
      </p:sp>
      <p:sp>
        <p:nvSpPr>
          <p:cNvPr id="4" name="Text 2"/>
          <p:cNvSpPr txBox="1"/>
          <p:nvPr/>
        </p:nvSpPr>
        <p:spPr>
          <a:xfrm>
            <a:off x="731520" y="2788920"/>
            <a:ext cx="6217920" cy="640080"/>
          </a:xfrm>
          <a:prstGeom prst="rect">
            <a:avLst/>
          </a:prstGeom>
          <a:noFill/>
          <a:ln/>
        </p:spPr>
        <p:txBody>
          <a:bodyPr wrap="square" lIns="0" tIns="0" rIns="0" bIns="0" rtlCol="0" anchor="ctr"/>
          <a:lstStyle/>
          <a:p>
            <a:pPr marL="0" indent="0">
              <a:buNone/>
            </a:pPr>
            <a:r>
              <a:rPr lang="en-US" sz="3200" dirty="0">
                <a:solidFill>
                  <a:srgbClr val="C5D3E8"/>
                </a:solidFill>
                <a:latin typeface="Cambria" pitchFamily="34" charset="0"/>
                <a:ea typeface="Cambria" pitchFamily="34" charset="-122"/>
                <a:cs typeface="Cambria" pitchFamily="34" charset="-120"/>
              </a:rPr>
              <a:t>Swiggy Food and Instamart User</a:t>
            </a:r>
            <a:endParaRPr lang="en-US" sz="3200" dirty="0"/>
          </a:p>
        </p:txBody>
      </p:sp>
      <p:sp>
        <p:nvSpPr>
          <p:cNvPr id="5" name="Text 3"/>
          <p:cNvSpPr txBox="1"/>
          <p:nvPr/>
        </p:nvSpPr>
        <p:spPr>
          <a:xfrm>
            <a:off x="731520" y="3931920"/>
            <a:ext cx="5943600" cy="82296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A Swiggy app case study</a:t>
            </a:r>
            <a:endParaRPr lang="en-US" sz="1800" dirty="0"/>
          </a:p>
          <a:p>
            <a:pPr marL="0" indent="0">
              <a:spcAft>
                <a:spcPts val="400"/>
              </a:spcAft>
              <a:buNone/>
            </a:pPr>
            <a:r>
              <a:rPr lang="en-US" sz="1800" dirty="0">
                <a:solidFill>
                  <a:srgbClr val="C5D3E8"/>
                </a:solidFill>
                <a:latin typeface="Calibri" pitchFamily="34" charset="0"/>
                <a:ea typeface="Calibri" pitchFamily="34" charset="-122"/>
                <a:cs typeface="Calibri" pitchFamily="34" charset="-120"/>
              </a:rPr>
              <a:t>User needs, frustrations and expectations</a:t>
            </a:r>
            <a:endParaRPr lang="en-US" sz="1800" dirty="0"/>
          </a:p>
        </p:txBody>
      </p:sp>
      <p:sp>
        <p:nvSpPr>
          <p:cNvPr id="6" name="Shape 4"/>
          <p:cNvSpPr/>
          <p:nvPr/>
        </p:nvSpPr>
        <p:spPr>
          <a:xfrm>
            <a:off x="7498080" y="1097280"/>
            <a:ext cx="4206240" cy="4206240"/>
          </a:xfrm>
          <a:prstGeom prst="hexagon">
            <a:avLst/>
          </a:prstGeom>
          <a:solidFill>
            <a:srgbClr val="2F6BFF"/>
          </a:solidFill>
          <a:ln w="6350">
            <a:solidFill>
              <a:srgbClr val="2F6BFF"/>
            </a:solidFill>
            <a:prstDash val="solid"/>
          </a:ln>
        </p:spPr>
      </p:sp>
      <p:pic>
        <p:nvPicPr>
          <p:cNvPr id="7" name="Image 0" descr="preencoded.png"/>
          <p:cNvPicPr>
            <a:picLocks noChangeAspect="1"/>
          </p:cNvPicPr>
          <p:nvPr/>
        </p:nvPicPr>
        <p:blipFill>
          <a:blip r:embed="rId3"/>
          <a:stretch>
            <a:fillRect/>
          </a:stretch>
        </p:blipFill>
        <p:spPr>
          <a:xfrm>
            <a:off x="8686800" y="2286000"/>
            <a:ext cx="1828800" cy="1828800"/>
          </a:xfrm>
          <a:prstGeom prst="rect">
            <a:avLst/>
          </a:prstGeom>
        </p:spPr>
      </p:pic>
      <p:sp>
        <p:nvSpPr>
          <p:cNvPr id="8" name="Shape 5"/>
          <p:cNvSpPr/>
          <p:nvPr/>
        </p:nvSpPr>
        <p:spPr>
          <a:xfrm>
            <a:off x="6675120" y="4343400"/>
            <a:ext cx="1737360" cy="1737360"/>
          </a:xfrm>
          <a:prstGeom prst="hexagon">
            <a:avLst/>
          </a:prstGeom>
          <a:solidFill>
            <a:srgbClr val="24456B"/>
          </a:solidFill>
          <a:ln w="38100">
            <a:solidFill>
              <a:srgbClr val="0F2A43"/>
            </a:solidFill>
            <a:prstDash val="solid"/>
          </a:ln>
        </p:spPr>
      </p:sp>
      <p:pic>
        <p:nvPicPr>
          <p:cNvPr id="9" name="Image 1" descr="preencoded.png"/>
          <p:cNvPicPr>
            <a:picLocks noChangeAspect="1"/>
          </p:cNvPicPr>
          <p:nvPr/>
        </p:nvPicPr>
        <p:blipFill>
          <a:blip r:embed="rId4"/>
          <a:stretch>
            <a:fillRect/>
          </a:stretch>
        </p:blipFill>
        <p:spPr>
          <a:xfrm>
            <a:off x="7269480" y="4937760"/>
            <a:ext cx="548640" cy="548640"/>
          </a:xfrm>
          <a:prstGeom prst="rect">
            <a:avLst/>
          </a:prstGeom>
        </p:spPr>
      </p:pic>
      <p:sp>
        <p:nvSpPr>
          <p:cNvPr id="10" name="Shape 6"/>
          <p:cNvSpPr/>
          <p:nvPr/>
        </p:nvSpPr>
        <p:spPr>
          <a:xfrm>
            <a:off x="10744200" y="4663440"/>
            <a:ext cx="1051560" cy="1051560"/>
          </a:xfrm>
          <a:prstGeom prst="hexagon">
            <a:avLst/>
          </a:prstGeom>
          <a:solidFill>
            <a:srgbClr val="15803D"/>
          </a:solidFill>
          <a:ln w="38100">
            <a:solidFill>
              <a:srgbClr val="0F2A43"/>
            </a:solidFill>
            <a:prstDash val="solid"/>
          </a:ln>
        </p:spPr>
      </p:sp>
      <p:pic>
        <p:nvPicPr>
          <p:cNvPr id="11" name="Image 2" descr="preencoded.png"/>
          <p:cNvPicPr>
            <a:picLocks noChangeAspect="1"/>
          </p:cNvPicPr>
          <p:nvPr/>
        </p:nvPicPr>
        <p:blipFill>
          <a:blip r:embed="rId5"/>
          <a:stretch>
            <a:fillRect/>
          </a:stretch>
        </p:blipFill>
        <p:spPr>
          <a:xfrm>
            <a:off x="11064240" y="498348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5897"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Empathy maps put us in the user's shoes</a:t>
            </a:r>
            <a:endParaRPr lang="en-US" sz="3400" u="sng" dirty="0"/>
          </a:p>
        </p:txBody>
      </p:sp>
      <p:sp>
        <p:nvSpPr>
          <p:cNvPr id="3" name="Text 1"/>
          <p:cNvSpPr txBox="1"/>
          <p:nvPr/>
        </p:nvSpPr>
        <p:spPr>
          <a:xfrm>
            <a:off x="548640" y="1463040"/>
            <a:ext cx="4754880" cy="1371600"/>
          </a:xfrm>
          <a:prstGeom prst="rect">
            <a:avLst/>
          </a:prstGeom>
          <a:noFill/>
          <a:ln/>
        </p:spPr>
        <p:txBody>
          <a:bodyPr wrap="square" lIns="0" tIns="0" rIns="0" bIns="0" rtlCol="0" anchor="t"/>
          <a:lstStyle/>
          <a:p>
            <a:pPr marL="0" indent="0">
              <a:buNone/>
            </a:pPr>
            <a:r>
              <a:rPr lang="en-US" sz="2000" dirty="0">
                <a:solidFill>
                  <a:srgbClr val="0F2A43"/>
                </a:solidFill>
                <a:latin typeface="Calibri" pitchFamily="34" charset="0"/>
                <a:ea typeface="Calibri" pitchFamily="34" charset="-122"/>
                <a:cs typeface="Calibri" pitchFamily="34" charset="-120"/>
              </a:rPr>
              <a:t>A one-page canvas that captures what a user says, thinks, does and feels, plus their pains and gains.</a:t>
            </a:r>
            <a:endParaRPr lang="en-US" sz="2000" dirty="0"/>
          </a:p>
        </p:txBody>
      </p:sp>
      <p:sp>
        <p:nvSpPr>
          <p:cNvPr id="4" name="Shape 2"/>
          <p:cNvSpPr/>
          <p:nvPr/>
        </p:nvSpPr>
        <p:spPr>
          <a:xfrm>
            <a:off x="548640" y="3291840"/>
            <a:ext cx="457200" cy="457200"/>
          </a:xfrm>
          <a:prstGeom prst="hexagon">
            <a:avLst/>
          </a:prstGeom>
          <a:solidFill>
            <a:srgbClr val="EEF3FB"/>
          </a:solidFill>
          <a:ln w="6350">
            <a:solidFill>
              <a:srgbClr val="EEF3FB"/>
            </a:solidFill>
            <a:prstDash val="solid"/>
          </a:ln>
        </p:spPr>
      </p:sp>
      <p:pic>
        <p:nvPicPr>
          <p:cNvPr id="5" name="Image 0" descr="preencoded.png"/>
          <p:cNvPicPr>
            <a:picLocks noChangeAspect="1"/>
          </p:cNvPicPr>
          <p:nvPr/>
        </p:nvPicPr>
        <p:blipFill>
          <a:blip r:embed="rId3"/>
          <a:stretch>
            <a:fillRect/>
          </a:stretch>
        </p:blipFill>
        <p:spPr>
          <a:xfrm>
            <a:off x="676656" y="3419856"/>
            <a:ext cx="201168" cy="201168"/>
          </a:xfrm>
          <a:prstGeom prst="rect">
            <a:avLst/>
          </a:prstGeom>
        </p:spPr>
      </p:pic>
      <p:sp>
        <p:nvSpPr>
          <p:cNvPr id="6" name="Text 3"/>
          <p:cNvSpPr txBox="1"/>
          <p:nvPr/>
        </p:nvSpPr>
        <p:spPr>
          <a:xfrm>
            <a:off x="1234440" y="3291840"/>
            <a:ext cx="4114800" cy="457200"/>
          </a:xfrm>
          <a:prstGeom prst="rect">
            <a:avLst/>
          </a:prstGeom>
          <a:noFill/>
          <a:ln/>
        </p:spPr>
        <p:txBody>
          <a:bodyPr wrap="square" lIns="0" tIns="0" rIns="0" bIns="0" rtlCol="0" anchor="ctr"/>
          <a:lstStyle/>
          <a:p>
            <a:pPr marL="0" indent="0">
              <a:buNone/>
            </a:pPr>
            <a:r>
              <a:rPr lang="en-US" sz="1600" dirty="0">
                <a:solidFill>
                  <a:srgbClr val="0F2A43"/>
                </a:solidFill>
                <a:latin typeface="Calibri" pitchFamily="34" charset="0"/>
                <a:ea typeface="Calibri" pitchFamily="34" charset="-122"/>
                <a:cs typeface="Calibri" pitchFamily="34" charset="-120"/>
              </a:rPr>
              <a:t>Build one shared picture of a Swiggy user</a:t>
            </a:r>
            <a:endParaRPr lang="en-US" sz="1600" dirty="0"/>
          </a:p>
        </p:txBody>
      </p:sp>
      <p:sp>
        <p:nvSpPr>
          <p:cNvPr id="7" name="Shape 4"/>
          <p:cNvSpPr/>
          <p:nvPr/>
        </p:nvSpPr>
        <p:spPr>
          <a:xfrm>
            <a:off x="548640" y="4160520"/>
            <a:ext cx="457200" cy="457200"/>
          </a:xfrm>
          <a:prstGeom prst="hexagon">
            <a:avLst/>
          </a:prstGeom>
          <a:solidFill>
            <a:srgbClr val="EEF3FB"/>
          </a:solidFill>
          <a:ln w="6350">
            <a:solidFill>
              <a:srgbClr val="EEF3FB"/>
            </a:solidFill>
            <a:prstDash val="solid"/>
          </a:ln>
        </p:spPr>
      </p:sp>
      <p:pic>
        <p:nvPicPr>
          <p:cNvPr id="8" name="Image 1" descr="preencoded.png"/>
          <p:cNvPicPr>
            <a:picLocks noChangeAspect="1"/>
          </p:cNvPicPr>
          <p:nvPr/>
        </p:nvPicPr>
        <p:blipFill>
          <a:blip r:embed="rId3"/>
          <a:stretch>
            <a:fillRect/>
          </a:stretch>
        </p:blipFill>
        <p:spPr>
          <a:xfrm>
            <a:off x="676656" y="4288536"/>
            <a:ext cx="201168" cy="201168"/>
          </a:xfrm>
          <a:prstGeom prst="rect">
            <a:avLst/>
          </a:prstGeom>
        </p:spPr>
      </p:pic>
      <p:sp>
        <p:nvSpPr>
          <p:cNvPr id="9" name="Text 5"/>
          <p:cNvSpPr txBox="1"/>
          <p:nvPr/>
        </p:nvSpPr>
        <p:spPr>
          <a:xfrm>
            <a:off x="1234440" y="4160520"/>
            <a:ext cx="4114800" cy="457200"/>
          </a:xfrm>
          <a:prstGeom prst="rect">
            <a:avLst/>
          </a:prstGeom>
          <a:noFill/>
          <a:ln/>
        </p:spPr>
        <p:txBody>
          <a:bodyPr wrap="square" lIns="0" tIns="0" rIns="0" bIns="0" rtlCol="0" anchor="ctr"/>
          <a:lstStyle/>
          <a:p>
            <a:pPr marL="0" indent="0">
              <a:buNone/>
            </a:pPr>
            <a:r>
              <a:rPr lang="en-US" sz="1600" dirty="0">
                <a:solidFill>
                  <a:srgbClr val="0F2A43"/>
                </a:solidFill>
                <a:latin typeface="Calibri" pitchFamily="34" charset="0"/>
                <a:ea typeface="Calibri" pitchFamily="34" charset="-122"/>
                <a:cs typeface="Calibri" pitchFamily="34" charset="-120"/>
              </a:rPr>
              <a:t>Surface needs, frustrations and expectations</a:t>
            </a:r>
            <a:endParaRPr lang="en-US" sz="1600" dirty="0"/>
          </a:p>
        </p:txBody>
      </p:sp>
      <p:sp>
        <p:nvSpPr>
          <p:cNvPr id="10" name="Shape 6"/>
          <p:cNvSpPr/>
          <p:nvPr/>
        </p:nvSpPr>
        <p:spPr>
          <a:xfrm>
            <a:off x="548640" y="5029200"/>
            <a:ext cx="457200" cy="457200"/>
          </a:xfrm>
          <a:prstGeom prst="hexagon">
            <a:avLst/>
          </a:prstGeom>
          <a:solidFill>
            <a:srgbClr val="EEF3FB"/>
          </a:solidFill>
          <a:ln w="6350">
            <a:solidFill>
              <a:srgbClr val="EEF3FB"/>
            </a:solidFill>
            <a:prstDash val="solid"/>
          </a:ln>
        </p:spPr>
      </p:sp>
      <p:pic>
        <p:nvPicPr>
          <p:cNvPr id="11" name="Image 2" descr="preencoded.png"/>
          <p:cNvPicPr>
            <a:picLocks noChangeAspect="1"/>
          </p:cNvPicPr>
          <p:nvPr/>
        </p:nvPicPr>
        <p:blipFill>
          <a:blip r:embed="rId3"/>
          <a:stretch>
            <a:fillRect/>
          </a:stretch>
        </p:blipFill>
        <p:spPr>
          <a:xfrm>
            <a:off x="676656" y="5157216"/>
            <a:ext cx="201168" cy="201168"/>
          </a:xfrm>
          <a:prstGeom prst="rect">
            <a:avLst/>
          </a:prstGeom>
        </p:spPr>
      </p:pic>
      <p:sp>
        <p:nvSpPr>
          <p:cNvPr id="12" name="Text 7"/>
          <p:cNvSpPr txBox="1"/>
          <p:nvPr/>
        </p:nvSpPr>
        <p:spPr>
          <a:xfrm>
            <a:off x="1234440" y="5029200"/>
            <a:ext cx="4114800" cy="457200"/>
          </a:xfrm>
          <a:prstGeom prst="rect">
            <a:avLst/>
          </a:prstGeom>
          <a:noFill/>
          <a:ln/>
        </p:spPr>
        <p:txBody>
          <a:bodyPr wrap="square" lIns="0" tIns="0" rIns="0" bIns="0" rtlCol="0" anchor="ctr"/>
          <a:lstStyle/>
          <a:p>
            <a:pPr marL="0" indent="0">
              <a:buNone/>
            </a:pPr>
            <a:r>
              <a:rPr lang="en-US" sz="1600" dirty="0">
                <a:solidFill>
                  <a:srgbClr val="0F2A43"/>
                </a:solidFill>
                <a:latin typeface="Calibri" pitchFamily="34" charset="0"/>
                <a:ea typeface="Calibri" pitchFamily="34" charset="-122"/>
                <a:cs typeface="Calibri" pitchFamily="34" charset="-120"/>
              </a:rPr>
              <a:t>Turn insights into design decisions</a:t>
            </a:r>
            <a:endParaRPr lang="en-US" sz="1600" dirty="0"/>
          </a:p>
        </p:txBody>
      </p:sp>
      <p:sp>
        <p:nvSpPr>
          <p:cNvPr id="13" name="Shape 8"/>
          <p:cNvSpPr/>
          <p:nvPr/>
        </p:nvSpPr>
        <p:spPr>
          <a:xfrm>
            <a:off x="5742432" y="146304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14" name="Shape 9"/>
          <p:cNvSpPr/>
          <p:nvPr/>
        </p:nvSpPr>
        <p:spPr>
          <a:xfrm>
            <a:off x="5971032" y="1645920"/>
            <a:ext cx="548640" cy="548640"/>
          </a:xfrm>
          <a:prstGeom prst="hexagon">
            <a:avLst/>
          </a:prstGeom>
          <a:solidFill>
            <a:srgbClr val="0F2A43"/>
          </a:solidFill>
          <a:ln w="6350">
            <a:solidFill>
              <a:srgbClr val="0F2A43"/>
            </a:solidFill>
            <a:prstDash val="solid"/>
          </a:ln>
        </p:spPr>
      </p:sp>
      <p:pic>
        <p:nvPicPr>
          <p:cNvPr id="15" name="Image 3" descr="preencoded.png"/>
          <p:cNvPicPr>
            <a:picLocks noChangeAspect="1"/>
          </p:cNvPicPr>
          <p:nvPr/>
        </p:nvPicPr>
        <p:blipFill>
          <a:blip r:embed="rId4"/>
          <a:stretch>
            <a:fillRect/>
          </a:stretch>
        </p:blipFill>
        <p:spPr>
          <a:xfrm>
            <a:off x="6108192" y="1783080"/>
            <a:ext cx="274320" cy="274320"/>
          </a:xfrm>
          <a:prstGeom prst="rect">
            <a:avLst/>
          </a:prstGeom>
        </p:spPr>
      </p:pic>
      <p:sp>
        <p:nvSpPr>
          <p:cNvPr id="16" name="Text 10"/>
          <p:cNvSpPr txBox="1"/>
          <p:nvPr/>
        </p:nvSpPr>
        <p:spPr>
          <a:xfrm>
            <a:off x="6656832" y="164592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Says</a:t>
            </a:r>
            <a:endParaRPr lang="en-US" sz="2000" dirty="0"/>
          </a:p>
        </p:txBody>
      </p:sp>
      <p:sp>
        <p:nvSpPr>
          <p:cNvPr id="17" name="Text 11"/>
          <p:cNvSpPr txBox="1"/>
          <p:nvPr/>
        </p:nvSpPr>
        <p:spPr>
          <a:xfrm>
            <a:off x="5971032" y="233172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Quotes and words the user speaks out loud</a:t>
            </a:r>
            <a:endParaRPr lang="en-US" sz="1300" dirty="0"/>
          </a:p>
        </p:txBody>
      </p:sp>
      <p:sp>
        <p:nvSpPr>
          <p:cNvPr id="18" name="Shape 12"/>
          <p:cNvSpPr/>
          <p:nvPr/>
        </p:nvSpPr>
        <p:spPr>
          <a:xfrm>
            <a:off x="8805672" y="146304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19" name="Shape 13"/>
          <p:cNvSpPr/>
          <p:nvPr/>
        </p:nvSpPr>
        <p:spPr>
          <a:xfrm>
            <a:off x="9034272" y="1645920"/>
            <a:ext cx="548640" cy="548640"/>
          </a:xfrm>
          <a:prstGeom prst="hexagon">
            <a:avLst/>
          </a:prstGeom>
          <a:solidFill>
            <a:srgbClr val="0F2A43"/>
          </a:solidFill>
          <a:ln w="6350">
            <a:solidFill>
              <a:srgbClr val="0F2A43"/>
            </a:solidFill>
            <a:prstDash val="solid"/>
          </a:ln>
        </p:spPr>
      </p:sp>
      <p:pic>
        <p:nvPicPr>
          <p:cNvPr id="20" name="Image 4" descr="preencoded.png"/>
          <p:cNvPicPr>
            <a:picLocks noChangeAspect="1"/>
          </p:cNvPicPr>
          <p:nvPr/>
        </p:nvPicPr>
        <p:blipFill>
          <a:blip r:embed="rId5"/>
          <a:stretch>
            <a:fillRect/>
          </a:stretch>
        </p:blipFill>
        <p:spPr>
          <a:xfrm>
            <a:off x="9171432" y="1783080"/>
            <a:ext cx="274320" cy="274320"/>
          </a:xfrm>
          <a:prstGeom prst="rect">
            <a:avLst/>
          </a:prstGeom>
        </p:spPr>
      </p:pic>
      <p:sp>
        <p:nvSpPr>
          <p:cNvPr id="21" name="Text 14"/>
          <p:cNvSpPr txBox="1"/>
          <p:nvPr/>
        </p:nvSpPr>
        <p:spPr>
          <a:xfrm>
            <a:off x="9720072" y="164592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Thinks</a:t>
            </a:r>
            <a:endParaRPr lang="en-US" sz="2000" dirty="0"/>
          </a:p>
        </p:txBody>
      </p:sp>
      <p:sp>
        <p:nvSpPr>
          <p:cNvPr id="22" name="Text 15"/>
          <p:cNvSpPr txBox="1"/>
          <p:nvPr/>
        </p:nvSpPr>
        <p:spPr>
          <a:xfrm>
            <a:off x="9034272" y="233172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Beliefs and worries held inside</a:t>
            </a:r>
            <a:endParaRPr lang="en-US" sz="1300" dirty="0"/>
          </a:p>
        </p:txBody>
      </p:sp>
      <p:sp>
        <p:nvSpPr>
          <p:cNvPr id="23" name="Shape 16"/>
          <p:cNvSpPr/>
          <p:nvPr/>
        </p:nvSpPr>
        <p:spPr>
          <a:xfrm>
            <a:off x="5742432" y="310896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24" name="Shape 17"/>
          <p:cNvSpPr/>
          <p:nvPr/>
        </p:nvSpPr>
        <p:spPr>
          <a:xfrm>
            <a:off x="5971032" y="3291840"/>
            <a:ext cx="548640" cy="548640"/>
          </a:xfrm>
          <a:prstGeom prst="hexagon">
            <a:avLst/>
          </a:prstGeom>
          <a:solidFill>
            <a:srgbClr val="0F2A43"/>
          </a:solidFill>
          <a:ln w="6350">
            <a:solidFill>
              <a:srgbClr val="0F2A43"/>
            </a:solidFill>
            <a:prstDash val="solid"/>
          </a:ln>
        </p:spPr>
      </p:sp>
      <p:pic>
        <p:nvPicPr>
          <p:cNvPr id="25" name="Image 5" descr="preencoded.png"/>
          <p:cNvPicPr>
            <a:picLocks noChangeAspect="1"/>
          </p:cNvPicPr>
          <p:nvPr/>
        </p:nvPicPr>
        <p:blipFill>
          <a:blip r:embed="rId6"/>
          <a:stretch>
            <a:fillRect/>
          </a:stretch>
        </p:blipFill>
        <p:spPr>
          <a:xfrm>
            <a:off x="6108192" y="3429000"/>
            <a:ext cx="274320" cy="274320"/>
          </a:xfrm>
          <a:prstGeom prst="rect">
            <a:avLst/>
          </a:prstGeom>
        </p:spPr>
      </p:pic>
      <p:sp>
        <p:nvSpPr>
          <p:cNvPr id="26" name="Text 18"/>
          <p:cNvSpPr txBox="1"/>
          <p:nvPr/>
        </p:nvSpPr>
        <p:spPr>
          <a:xfrm>
            <a:off x="6656832" y="329184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Does</a:t>
            </a:r>
            <a:endParaRPr lang="en-US" sz="2000" dirty="0"/>
          </a:p>
        </p:txBody>
      </p:sp>
      <p:sp>
        <p:nvSpPr>
          <p:cNvPr id="27" name="Text 19"/>
          <p:cNvSpPr txBox="1"/>
          <p:nvPr/>
        </p:nvSpPr>
        <p:spPr>
          <a:xfrm>
            <a:off x="5971032" y="397764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Observable actions and behaviours</a:t>
            </a:r>
            <a:endParaRPr lang="en-US" sz="1300" dirty="0"/>
          </a:p>
        </p:txBody>
      </p:sp>
      <p:sp>
        <p:nvSpPr>
          <p:cNvPr id="28" name="Shape 20"/>
          <p:cNvSpPr/>
          <p:nvPr/>
        </p:nvSpPr>
        <p:spPr>
          <a:xfrm>
            <a:off x="8805672" y="310896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29" name="Shape 21"/>
          <p:cNvSpPr/>
          <p:nvPr/>
        </p:nvSpPr>
        <p:spPr>
          <a:xfrm>
            <a:off x="9034272" y="3291840"/>
            <a:ext cx="548640" cy="548640"/>
          </a:xfrm>
          <a:prstGeom prst="hexagon">
            <a:avLst/>
          </a:prstGeom>
          <a:solidFill>
            <a:srgbClr val="0F2A43"/>
          </a:solidFill>
          <a:ln w="6350">
            <a:solidFill>
              <a:srgbClr val="0F2A43"/>
            </a:solidFill>
            <a:prstDash val="solid"/>
          </a:ln>
        </p:spPr>
      </p:sp>
      <p:pic>
        <p:nvPicPr>
          <p:cNvPr id="30" name="Image 6" descr="preencoded.png"/>
          <p:cNvPicPr>
            <a:picLocks noChangeAspect="1"/>
          </p:cNvPicPr>
          <p:nvPr/>
        </p:nvPicPr>
        <p:blipFill>
          <a:blip r:embed="rId7"/>
          <a:stretch>
            <a:fillRect/>
          </a:stretch>
        </p:blipFill>
        <p:spPr>
          <a:xfrm>
            <a:off x="9171432" y="3429000"/>
            <a:ext cx="274320" cy="274320"/>
          </a:xfrm>
          <a:prstGeom prst="rect">
            <a:avLst/>
          </a:prstGeom>
        </p:spPr>
      </p:pic>
      <p:sp>
        <p:nvSpPr>
          <p:cNvPr id="31" name="Text 22"/>
          <p:cNvSpPr txBox="1"/>
          <p:nvPr/>
        </p:nvSpPr>
        <p:spPr>
          <a:xfrm>
            <a:off x="9720072" y="329184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Feels</a:t>
            </a:r>
            <a:endParaRPr lang="en-US" sz="2000" dirty="0"/>
          </a:p>
        </p:txBody>
      </p:sp>
      <p:sp>
        <p:nvSpPr>
          <p:cNvPr id="32" name="Text 23"/>
          <p:cNvSpPr txBox="1"/>
          <p:nvPr/>
        </p:nvSpPr>
        <p:spPr>
          <a:xfrm>
            <a:off x="9034272" y="397764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Emotions felt along the journey</a:t>
            </a:r>
            <a:endParaRPr lang="en-US" sz="1300" dirty="0"/>
          </a:p>
        </p:txBody>
      </p:sp>
      <p:sp>
        <p:nvSpPr>
          <p:cNvPr id="33" name="Shape 24"/>
          <p:cNvSpPr/>
          <p:nvPr/>
        </p:nvSpPr>
        <p:spPr>
          <a:xfrm>
            <a:off x="5742432" y="475488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34" name="Shape 25"/>
          <p:cNvSpPr/>
          <p:nvPr/>
        </p:nvSpPr>
        <p:spPr>
          <a:xfrm>
            <a:off x="5971032" y="4937760"/>
            <a:ext cx="548640" cy="548640"/>
          </a:xfrm>
          <a:prstGeom prst="hexagon">
            <a:avLst/>
          </a:prstGeom>
          <a:solidFill>
            <a:srgbClr val="2F6BFF"/>
          </a:solidFill>
          <a:ln w="6350">
            <a:solidFill>
              <a:srgbClr val="2F6BFF"/>
            </a:solidFill>
            <a:prstDash val="solid"/>
          </a:ln>
        </p:spPr>
      </p:sp>
      <p:pic>
        <p:nvPicPr>
          <p:cNvPr id="35" name="Image 7" descr="preencoded.png"/>
          <p:cNvPicPr>
            <a:picLocks noChangeAspect="1"/>
          </p:cNvPicPr>
          <p:nvPr/>
        </p:nvPicPr>
        <p:blipFill>
          <a:blip r:embed="rId8"/>
          <a:stretch>
            <a:fillRect/>
          </a:stretch>
        </p:blipFill>
        <p:spPr>
          <a:xfrm>
            <a:off x="6108192" y="5074920"/>
            <a:ext cx="274320" cy="274320"/>
          </a:xfrm>
          <a:prstGeom prst="rect">
            <a:avLst/>
          </a:prstGeom>
        </p:spPr>
      </p:pic>
      <p:sp>
        <p:nvSpPr>
          <p:cNvPr id="36" name="Text 26"/>
          <p:cNvSpPr txBox="1"/>
          <p:nvPr/>
        </p:nvSpPr>
        <p:spPr>
          <a:xfrm>
            <a:off x="6656832" y="493776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Pains</a:t>
            </a:r>
            <a:endParaRPr lang="en-US" sz="2000" dirty="0"/>
          </a:p>
        </p:txBody>
      </p:sp>
      <p:sp>
        <p:nvSpPr>
          <p:cNvPr id="37" name="Text 27"/>
          <p:cNvSpPr txBox="1"/>
          <p:nvPr/>
        </p:nvSpPr>
        <p:spPr>
          <a:xfrm>
            <a:off x="5971032" y="562356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Frustrations, fears and obstacles</a:t>
            </a:r>
            <a:endParaRPr lang="en-US" sz="1300" dirty="0"/>
          </a:p>
        </p:txBody>
      </p:sp>
      <p:sp>
        <p:nvSpPr>
          <p:cNvPr id="38" name="Shape 28"/>
          <p:cNvSpPr/>
          <p:nvPr/>
        </p:nvSpPr>
        <p:spPr>
          <a:xfrm>
            <a:off x="8805672" y="4754880"/>
            <a:ext cx="2834640" cy="1463040"/>
          </a:xfrm>
          <a:prstGeom prst="snip2DiagRect">
            <a:avLst>
              <a:gd name="adj1" fmla="val 0"/>
              <a:gd name="adj2" fmla="val 14000"/>
            </a:avLst>
          </a:prstGeom>
          <a:solidFill>
            <a:srgbClr val="EEF3FB"/>
          </a:solidFill>
          <a:ln w="6350">
            <a:solidFill>
              <a:srgbClr val="EEF3FB"/>
            </a:solidFill>
            <a:prstDash val="solid"/>
          </a:ln>
        </p:spPr>
      </p:sp>
      <p:sp>
        <p:nvSpPr>
          <p:cNvPr id="39" name="Shape 29"/>
          <p:cNvSpPr/>
          <p:nvPr/>
        </p:nvSpPr>
        <p:spPr>
          <a:xfrm>
            <a:off x="9034272" y="4937760"/>
            <a:ext cx="548640" cy="548640"/>
          </a:xfrm>
          <a:prstGeom prst="hexagon">
            <a:avLst/>
          </a:prstGeom>
          <a:solidFill>
            <a:srgbClr val="15803D"/>
          </a:solidFill>
          <a:ln w="6350">
            <a:solidFill>
              <a:srgbClr val="15803D"/>
            </a:solidFill>
            <a:prstDash val="solid"/>
          </a:ln>
        </p:spPr>
      </p:sp>
      <p:pic>
        <p:nvPicPr>
          <p:cNvPr id="40" name="Image 8" descr="preencoded.png"/>
          <p:cNvPicPr>
            <a:picLocks noChangeAspect="1"/>
          </p:cNvPicPr>
          <p:nvPr/>
        </p:nvPicPr>
        <p:blipFill>
          <a:blip r:embed="rId9"/>
          <a:stretch>
            <a:fillRect/>
          </a:stretch>
        </p:blipFill>
        <p:spPr>
          <a:xfrm>
            <a:off x="9171432" y="5074920"/>
            <a:ext cx="274320" cy="274320"/>
          </a:xfrm>
          <a:prstGeom prst="rect">
            <a:avLst/>
          </a:prstGeom>
        </p:spPr>
      </p:pic>
      <p:sp>
        <p:nvSpPr>
          <p:cNvPr id="41" name="Text 30"/>
          <p:cNvSpPr txBox="1"/>
          <p:nvPr/>
        </p:nvSpPr>
        <p:spPr>
          <a:xfrm>
            <a:off x="9720072" y="4937760"/>
            <a:ext cx="1737360" cy="548640"/>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Gains</a:t>
            </a:r>
            <a:endParaRPr lang="en-US" sz="2000" dirty="0"/>
          </a:p>
        </p:txBody>
      </p:sp>
      <p:sp>
        <p:nvSpPr>
          <p:cNvPr id="42" name="Text 31"/>
          <p:cNvSpPr txBox="1"/>
          <p:nvPr/>
        </p:nvSpPr>
        <p:spPr>
          <a:xfrm>
            <a:off x="9034272" y="5623560"/>
            <a:ext cx="242316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Goals, wants and measures of success</a:t>
            </a:r>
            <a:endParaRPr lang="en-US" sz="1300" dirty="0"/>
          </a:p>
        </p:txBody>
      </p:sp>
      <p:sp>
        <p:nvSpPr>
          <p:cNvPr id="43" name="TextBox 42">
            <a:extLst>
              <a:ext uri="{FF2B5EF4-FFF2-40B4-BE49-F238E27FC236}">
                <a16:creationId xmlns:a16="http://schemas.microsoft.com/office/drawing/2014/main" id="{3B80ABC7-A5CD-7010-342D-B21AB855F5C1}"/>
              </a:ext>
            </a:extLst>
          </p:cNvPr>
          <p:cNvSpPr txBox="1"/>
          <p:nvPr/>
        </p:nvSpPr>
        <p:spPr>
          <a:xfrm>
            <a:off x="395422" y="2892515"/>
            <a:ext cx="4754880" cy="3068449"/>
          </a:xfrm>
          <a:prstGeom prst="rect">
            <a:avLst/>
          </a:prstGeom>
          <a:noFill/>
          <a:ln>
            <a:solidFill>
              <a:schemeClr val="bg1"/>
            </a:solidFill>
          </a:ln>
        </p:spPr>
        <p:txBody>
          <a:bodyPr wrap="squar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792"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Meet Fiya, Swiggy's everyday user</a:t>
            </a:r>
            <a:endParaRPr lang="en-US" sz="3400" u="sng" dirty="0"/>
          </a:p>
        </p:txBody>
      </p:sp>
      <p:sp>
        <p:nvSpPr>
          <p:cNvPr id="3" name="Shape 1"/>
          <p:cNvSpPr/>
          <p:nvPr/>
        </p:nvSpPr>
        <p:spPr>
          <a:xfrm>
            <a:off x="548640" y="1371600"/>
            <a:ext cx="3840480" cy="4754880"/>
          </a:xfrm>
          <a:prstGeom prst="snip2DiagRect">
            <a:avLst>
              <a:gd name="adj1" fmla="val 0"/>
              <a:gd name="adj2" fmla="val 14000"/>
            </a:avLst>
          </a:prstGeom>
          <a:solidFill>
            <a:srgbClr val="0F2A43"/>
          </a:solidFill>
          <a:ln w="6350">
            <a:solidFill>
              <a:srgbClr val="EEF3FB"/>
            </a:solidFill>
            <a:prstDash val="solid"/>
          </a:ln>
        </p:spPr>
      </p:sp>
      <p:sp>
        <p:nvSpPr>
          <p:cNvPr id="4" name="Shape 2"/>
          <p:cNvSpPr/>
          <p:nvPr/>
        </p:nvSpPr>
        <p:spPr>
          <a:xfrm>
            <a:off x="1691640" y="1783080"/>
            <a:ext cx="1554480" cy="1554480"/>
          </a:xfrm>
          <a:prstGeom prst="hexagon">
            <a:avLst/>
          </a:prstGeom>
          <a:solidFill>
            <a:srgbClr val="2F6BFF"/>
          </a:solidFill>
          <a:ln w="6350">
            <a:solidFill>
              <a:srgbClr val="2F6BFF"/>
            </a:solidFill>
            <a:prstDash val="solid"/>
          </a:ln>
        </p:spPr>
      </p:sp>
      <p:pic>
        <p:nvPicPr>
          <p:cNvPr id="5" name="Image 0" descr="preencoded.png"/>
          <p:cNvPicPr>
            <a:picLocks noChangeAspect="1"/>
          </p:cNvPicPr>
          <p:nvPr/>
        </p:nvPicPr>
        <p:blipFill>
          <a:blip r:embed="rId3"/>
          <a:stretch>
            <a:fillRect/>
          </a:stretch>
        </p:blipFill>
        <p:spPr>
          <a:xfrm>
            <a:off x="2194560" y="2286000"/>
            <a:ext cx="548640" cy="548640"/>
          </a:xfrm>
          <a:prstGeom prst="rect">
            <a:avLst/>
          </a:prstGeom>
        </p:spPr>
      </p:pic>
      <p:sp>
        <p:nvSpPr>
          <p:cNvPr id="6" name="Text 3"/>
          <p:cNvSpPr txBox="1"/>
          <p:nvPr/>
        </p:nvSpPr>
        <p:spPr>
          <a:xfrm>
            <a:off x="548640" y="3520440"/>
            <a:ext cx="3840480"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Fiya</a:t>
            </a:r>
            <a:endParaRPr lang="en-US" sz="3000" dirty="0"/>
          </a:p>
        </p:txBody>
      </p:sp>
      <p:sp>
        <p:nvSpPr>
          <p:cNvPr id="7" name="Text 4"/>
          <p:cNvSpPr txBox="1"/>
          <p:nvPr/>
        </p:nvSpPr>
        <p:spPr>
          <a:xfrm>
            <a:off x="548640" y="4023360"/>
            <a:ext cx="3840480" cy="365760"/>
          </a:xfrm>
          <a:prstGeom prst="rect">
            <a:avLst/>
          </a:prstGeom>
          <a:noFill/>
          <a:ln/>
        </p:spPr>
        <p:txBody>
          <a:bodyPr wrap="square" lIns="0" tIns="0" rIns="0" bIns="0" rtlCol="0" anchor="ctr"/>
          <a:lstStyle/>
          <a:p>
            <a:pPr marL="0" indent="0" algn="ctr">
              <a:buNone/>
            </a:pPr>
            <a:r>
              <a:rPr lang="en-US" sz="1600" dirty="0">
                <a:solidFill>
                  <a:srgbClr val="C5D3E8"/>
                </a:solidFill>
                <a:latin typeface="Calibri" pitchFamily="34" charset="0"/>
                <a:ea typeface="Calibri" pitchFamily="34" charset="-122"/>
                <a:cs typeface="Calibri" pitchFamily="34" charset="-120"/>
              </a:rPr>
              <a:t>27  ·  Product designer</a:t>
            </a:r>
            <a:endParaRPr lang="en-US" sz="1600" dirty="0"/>
          </a:p>
        </p:txBody>
      </p:sp>
      <p:sp>
        <p:nvSpPr>
          <p:cNvPr id="8" name="Text 5"/>
          <p:cNvSpPr txBox="1"/>
          <p:nvPr/>
        </p:nvSpPr>
        <p:spPr>
          <a:xfrm>
            <a:off x="914400" y="4617720"/>
            <a:ext cx="3108960" cy="1188720"/>
          </a:xfrm>
          <a:prstGeom prst="rect">
            <a:avLst/>
          </a:prstGeom>
          <a:noFill/>
          <a:ln/>
        </p:spPr>
        <p:txBody>
          <a:bodyPr wrap="square" lIns="0" tIns="0" rIns="0" bIns="0" rtlCol="0" anchor="ctr"/>
          <a:lstStyle/>
          <a:p>
            <a:pPr marL="0" indent="0" algn="ctr">
              <a:buNone/>
            </a:pPr>
            <a:r>
              <a:rPr lang="en-US" sz="1700" i="1" dirty="0">
                <a:solidFill>
                  <a:srgbClr val="FFFFFF"/>
                </a:solidFill>
                <a:latin typeface="Cambria" pitchFamily="34" charset="0"/>
                <a:ea typeface="Cambria" pitchFamily="34" charset="-122"/>
                <a:cs typeface="Cambria" pitchFamily="34" charset="-120"/>
              </a:rPr>
              <a:t>“I want my Swiggy order hot, on time, and the bill I expected.”</a:t>
            </a:r>
            <a:endParaRPr lang="en-US" sz="1700" dirty="0"/>
          </a:p>
        </p:txBody>
      </p:sp>
      <p:sp>
        <p:nvSpPr>
          <p:cNvPr id="9" name="Shape 6"/>
          <p:cNvSpPr/>
          <p:nvPr/>
        </p:nvSpPr>
        <p:spPr>
          <a:xfrm>
            <a:off x="4754880" y="1371600"/>
            <a:ext cx="3310128" cy="2240280"/>
          </a:xfrm>
          <a:prstGeom prst="snip2DiagRect">
            <a:avLst>
              <a:gd name="adj1" fmla="val 0"/>
              <a:gd name="adj2" fmla="val 14000"/>
            </a:avLst>
          </a:prstGeom>
          <a:solidFill>
            <a:srgbClr val="EEF3FB"/>
          </a:solidFill>
          <a:ln w="6350">
            <a:solidFill>
              <a:schemeClr val="tx1"/>
            </a:solidFill>
            <a:prstDash val="solid"/>
          </a:ln>
        </p:spPr>
      </p:sp>
      <p:sp>
        <p:nvSpPr>
          <p:cNvPr id="10" name="Shape 7"/>
          <p:cNvSpPr/>
          <p:nvPr/>
        </p:nvSpPr>
        <p:spPr>
          <a:xfrm>
            <a:off x="4983480" y="1572768"/>
            <a:ext cx="502920" cy="502920"/>
          </a:xfrm>
          <a:prstGeom prst="hexagon">
            <a:avLst/>
          </a:prstGeom>
          <a:solidFill>
            <a:srgbClr val="0F2A43"/>
          </a:solidFill>
          <a:ln w="6350">
            <a:solidFill>
              <a:srgbClr val="0F2A43"/>
            </a:solidFill>
            <a:prstDash val="solid"/>
          </a:ln>
        </p:spPr>
      </p:sp>
      <p:pic>
        <p:nvPicPr>
          <p:cNvPr id="11" name="Image 1" descr="preencoded.png"/>
          <p:cNvPicPr>
            <a:picLocks noChangeAspect="1"/>
          </p:cNvPicPr>
          <p:nvPr/>
        </p:nvPicPr>
        <p:blipFill>
          <a:blip r:embed="rId3"/>
          <a:stretch>
            <a:fillRect/>
          </a:stretch>
        </p:blipFill>
        <p:spPr>
          <a:xfrm>
            <a:off x="5109210" y="1698498"/>
            <a:ext cx="251460" cy="251460"/>
          </a:xfrm>
          <a:prstGeom prst="rect">
            <a:avLst/>
          </a:prstGeom>
        </p:spPr>
      </p:pic>
      <p:sp>
        <p:nvSpPr>
          <p:cNvPr id="12" name="Text 8"/>
          <p:cNvSpPr txBox="1"/>
          <p:nvPr/>
        </p:nvSpPr>
        <p:spPr>
          <a:xfrm>
            <a:off x="5623560" y="1572768"/>
            <a:ext cx="2258568" cy="50292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Who she is</a:t>
            </a:r>
            <a:endParaRPr lang="en-US" sz="1800" dirty="0"/>
          </a:p>
        </p:txBody>
      </p:sp>
      <p:sp>
        <p:nvSpPr>
          <p:cNvPr id="13" name="Text 9"/>
          <p:cNvSpPr txBox="1"/>
          <p:nvPr/>
        </p:nvSpPr>
        <p:spPr>
          <a:xfrm>
            <a:off x="4983480" y="2240280"/>
            <a:ext cx="2852928" cy="1234440"/>
          </a:xfrm>
          <a:prstGeom prst="rect">
            <a:avLst/>
          </a:prstGeom>
          <a:noFill/>
          <a:ln/>
        </p:spPr>
        <p:txBody>
          <a:bodyPr wrap="square" lIns="0" tIns="0" rIns="0" bIns="0" rtlCol="0" anchor="t"/>
          <a:lstStyle/>
          <a:p>
            <a:pPr marL="0" indent="0">
              <a:buNone/>
            </a:pPr>
            <a:r>
              <a:rPr lang="en-US" sz="1600" dirty="0">
                <a:solidFill>
                  <a:srgbClr val="0F2A43"/>
                </a:solidFill>
                <a:latin typeface="Calibri" pitchFamily="34" charset="0"/>
                <a:ea typeface="Calibri" pitchFamily="34" charset="-122"/>
                <a:cs typeface="Calibri" pitchFamily="34" charset="-120"/>
              </a:rPr>
              <a:t>Works hybrid in a busy metro, lives with a flatmate. Orders lunch on Swiggy and groceries on Instamart.</a:t>
            </a:r>
            <a:endParaRPr lang="en-US" sz="1600" dirty="0"/>
          </a:p>
        </p:txBody>
      </p:sp>
      <p:sp>
        <p:nvSpPr>
          <p:cNvPr id="14" name="Shape 10"/>
          <p:cNvSpPr/>
          <p:nvPr/>
        </p:nvSpPr>
        <p:spPr>
          <a:xfrm>
            <a:off x="8330184" y="1412111"/>
            <a:ext cx="3310128" cy="2240280"/>
          </a:xfrm>
          <a:prstGeom prst="snip2DiagRect">
            <a:avLst>
              <a:gd name="adj1" fmla="val 0"/>
              <a:gd name="adj2" fmla="val 14000"/>
            </a:avLst>
          </a:prstGeom>
          <a:solidFill>
            <a:srgbClr val="EEF3FB"/>
          </a:solidFill>
          <a:ln w="6350">
            <a:solidFill>
              <a:schemeClr val="tx1"/>
            </a:solidFill>
            <a:prstDash val="solid"/>
          </a:ln>
        </p:spPr>
      </p:sp>
      <p:sp>
        <p:nvSpPr>
          <p:cNvPr id="15" name="Shape 11"/>
          <p:cNvSpPr/>
          <p:nvPr/>
        </p:nvSpPr>
        <p:spPr>
          <a:xfrm>
            <a:off x="8558784" y="1572768"/>
            <a:ext cx="502920" cy="502920"/>
          </a:xfrm>
          <a:prstGeom prst="hexagon">
            <a:avLst/>
          </a:prstGeom>
          <a:solidFill>
            <a:srgbClr val="0F2A43"/>
          </a:solidFill>
          <a:ln w="6350">
            <a:solidFill>
              <a:srgbClr val="0F2A43"/>
            </a:solidFill>
            <a:prstDash val="solid"/>
          </a:ln>
        </p:spPr>
      </p:sp>
      <p:pic>
        <p:nvPicPr>
          <p:cNvPr id="16" name="Image 2" descr="preencoded.png"/>
          <p:cNvPicPr>
            <a:picLocks noChangeAspect="1"/>
          </p:cNvPicPr>
          <p:nvPr/>
        </p:nvPicPr>
        <p:blipFill>
          <a:blip r:embed="rId4"/>
          <a:stretch>
            <a:fillRect/>
          </a:stretch>
        </p:blipFill>
        <p:spPr>
          <a:xfrm>
            <a:off x="8684514" y="1698498"/>
            <a:ext cx="251460" cy="251460"/>
          </a:xfrm>
          <a:prstGeom prst="rect">
            <a:avLst/>
          </a:prstGeom>
        </p:spPr>
      </p:pic>
      <p:sp>
        <p:nvSpPr>
          <p:cNvPr id="17" name="Text 12"/>
          <p:cNvSpPr txBox="1"/>
          <p:nvPr/>
        </p:nvSpPr>
        <p:spPr>
          <a:xfrm>
            <a:off x="9198864" y="1572768"/>
            <a:ext cx="2258568" cy="50292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Ordering habits</a:t>
            </a:r>
            <a:endParaRPr lang="en-US" sz="1800" dirty="0"/>
          </a:p>
        </p:txBody>
      </p:sp>
      <p:sp>
        <p:nvSpPr>
          <p:cNvPr id="18" name="Text 13"/>
          <p:cNvSpPr txBox="1"/>
          <p:nvPr/>
        </p:nvSpPr>
        <p:spPr>
          <a:xfrm>
            <a:off x="8558784" y="2240280"/>
            <a:ext cx="2852928" cy="1234440"/>
          </a:xfrm>
          <a:prstGeom prst="rect">
            <a:avLst/>
          </a:prstGeom>
          <a:noFill/>
          <a:ln/>
        </p:spPr>
        <p:txBody>
          <a:bodyPr wrap="square" lIns="0" tIns="0" rIns="0" bIns="0" rtlCol="0" anchor="t"/>
          <a:lstStyle/>
          <a:p>
            <a:pPr marL="0" indent="0">
              <a:buNone/>
            </a:pPr>
            <a:r>
              <a:rPr lang="en-US" sz="1600" dirty="0">
                <a:solidFill>
                  <a:srgbClr val="0F2A43"/>
                </a:solidFill>
                <a:latin typeface="Calibri" pitchFamily="34" charset="0"/>
                <a:ea typeface="Calibri" pitchFamily="34" charset="-122"/>
                <a:cs typeface="Calibri" pitchFamily="34" charset="-120"/>
              </a:rPr>
              <a:t>3–4 food orders a week plus an Instamart run. Has Swiggy One and still compares with a rival app.</a:t>
            </a:r>
            <a:endParaRPr lang="en-US" sz="1600" dirty="0"/>
          </a:p>
        </p:txBody>
      </p:sp>
      <p:sp>
        <p:nvSpPr>
          <p:cNvPr id="19" name="Shape 14"/>
          <p:cNvSpPr/>
          <p:nvPr/>
        </p:nvSpPr>
        <p:spPr>
          <a:xfrm>
            <a:off x="4754880" y="3886200"/>
            <a:ext cx="3310128" cy="2240280"/>
          </a:xfrm>
          <a:prstGeom prst="snip2DiagRect">
            <a:avLst>
              <a:gd name="adj1" fmla="val 0"/>
              <a:gd name="adj2" fmla="val 14000"/>
            </a:avLst>
          </a:prstGeom>
          <a:solidFill>
            <a:srgbClr val="EEF3FB"/>
          </a:solidFill>
          <a:ln w="6350">
            <a:solidFill>
              <a:schemeClr val="tx1"/>
            </a:solidFill>
            <a:prstDash val="solid"/>
          </a:ln>
        </p:spPr>
      </p:sp>
      <p:sp>
        <p:nvSpPr>
          <p:cNvPr id="20" name="Shape 15"/>
          <p:cNvSpPr/>
          <p:nvPr/>
        </p:nvSpPr>
        <p:spPr>
          <a:xfrm>
            <a:off x="4983480" y="4087368"/>
            <a:ext cx="502920" cy="502920"/>
          </a:xfrm>
          <a:prstGeom prst="hexagon">
            <a:avLst/>
          </a:prstGeom>
          <a:solidFill>
            <a:srgbClr val="0F2A43"/>
          </a:solidFill>
          <a:ln w="6350">
            <a:solidFill>
              <a:srgbClr val="0F2A43"/>
            </a:solidFill>
            <a:prstDash val="solid"/>
          </a:ln>
        </p:spPr>
      </p:sp>
      <p:pic>
        <p:nvPicPr>
          <p:cNvPr id="21" name="Image 3" descr="preencoded.png"/>
          <p:cNvPicPr>
            <a:picLocks noChangeAspect="1"/>
          </p:cNvPicPr>
          <p:nvPr/>
        </p:nvPicPr>
        <p:blipFill>
          <a:blip r:embed="rId5"/>
          <a:stretch>
            <a:fillRect/>
          </a:stretch>
        </p:blipFill>
        <p:spPr>
          <a:xfrm>
            <a:off x="5109210" y="4213098"/>
            <a:ext cx="251460" cy="251460"/>
          </a:xfrm>
          <a:prstGeom prst="rect">
            <a:avLst/>
          </a:prstGeom>
        </p:spPr>
      </p:pic>
      <p:sp>
        <p:nvSpPr>
          <p:cNvPr id="22" name="Text 16"/>
          <p:cNvSpPr txBox="1"/>
          <p:nvPr/>
        </p:nvSpPr>
        <p:spPr>
          <a:xfrm>
            <a:off x="5623560" y="4087368"/>
            <a:ext cx="2258568" cy="50292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Goals</a:t>
            </a:r>
            <a:endParaRPr lang="en-US" sz="1800" dirty="0"/>
          </a:p>
        </p:txBody>
      </p:sp>
      <p:sp>
        <p:nvSpPr>
          <p:cNvPr id="23" name="Text 17"/>
          <p:cNvSpPr txBox="1"/>
          <p:nvPr/>
        </p:nvSpPr>
        <p:spPr>
          <a:xfrm>
            <a:off x="4983480" y="4754880"/>
            <a:ext cx="2852928" cy="1234440"/>
          </a:xfrm>
          <a:prstGeom prst="rect">
            <a:avLst/>
          </a:prstGeom>
          <a:noFill/>
          <a:ln/>
        </p:spPr>
        <p:txBody>
          <a:bodyPr wrap="square" lIns="0" tIns="0" rIns="0" bIns="0" rtlCol="0" anchor="t"/>
          <a:lstStyle/>
          <a:p>
            <a:pPr marL="0" indent="0">
              <a:buNone/>
            </a:pPr>
            <a:r>
              <a:rPr lang="en-US" sz="1600" dirty="0">
                <a:solidFill>
                  <a:srgbClr val="0F2A43"/>
                </a:solidFill>
                <a:latin typeface="Calibri" pitchFamily="34" charset="0"/>
                <a:ea typeface="Calibri" pitchFamily="34" charset="-122"/>
                <a:cs typeface="Calibri" pitchFamily="34" charset="-120"/>
              </a:rPr>
              <a:t>A hot, reliable meal with minimal effort, and getting her Swiggy One savings every time.</a:t>
            </a:r>
            <a:endParaRPr lang="en-US" sz="1600" dirty="0"/>
          </a:p>
        </p:txBody>
      </p:sp>
      <p:sp>
        <p:nvSpPr>
          <p:cNvPr id="24" name="Shape 18"/>
          <p:cNvSpPr/>
          <p:nvPr/>
        </p:nvSpPr>
        <p:spPr>
          <a:xfrm>
            <a:off x="8330184" y="3886200"/>
            <a:ext cx="3310128" cy="2240280"/>
          </a:xfrm>
          <a:prstGeom prst="snip2DiagRect">
            <a:avLst>
              <a:gd name="adj1" fmla="val 0"/>
              <a:gd name="adj2" fmla="val 14000"/>
            </a:avLst>
          </a:prstGeom>
          <a:solidFill>
            <a:srgbClr val="EEF3FB"/>
          </a:solidFill>
          <a:ln w="6350">
            <a:solidFill>
              <a:schemeClr val="tx1"/>
            </a:solidFill>
            <a:prstDash val="solid"/>
          </a:ln>
        </p:spPr>
      </p:sp>
      <p:sp>
        <p:nvSpPr>
          <p:cNvPr id="25" name="Shape 19"/>
          <p:cNvSpPr/>
          <p:nvPr/>
        </p:nvSpPr>
        <p:spPr>
          <a:xfrm>
            <a:off x="8558784" y="4087368"/>
            <a:ext cx="502920" cy="502920"/>
          </a:xfrm>
          <a:prstGeom prst="hexagon">
            <a:avLst/>
          </a:prstGeom>
          <a:solidFill>
            <a:srgbClr val="0F2A43"/>
          </a:solidFill>
          <a:ln w="6350">
            <a:solidFill>
              <a:srgbClr val="0F2A43"/>
            </a:solidFill>
            <a:prstDash val="solid"/>
          </a:ln>
        </p:spPr>
      </p:sp>
      <p:pic>
        <p:nvPicPr>
          <p:cNvPr id="26" name="Image 4" descr="preencoded.png"/>
          <p:cNvPicPr>
            <a:picLocks noChangeAspect="1"/>
          </p:cNvPicPr>
          <p:nvPr/>
        </p:nvPicPr>
        <p:blipFill>
          <a:blip r:embed="rId6"/>
          <a:stretch>
            <a:fillRect/>
          </a:stretch>
        </p:blipFill>
        <p:spPr>
          <a:xfrm>
            <a:off x="8684514" y="4213098"/>
            <a:ext cx="251460" cy="251460"/>
          </a:xfrm>
          <a:prstGeom prst="rect">
            <a:avLst/>
          </a:prstGeom>
        </p:spPr>
      </p:pic>
      <p:sp>
        <p:nvSpPr>
          <p:cNvPr id="27" name="Text 20"/>
          <p:cNvSpPr txBox="1"/>
          <p:nvPr/>
        </p:nvSpPr>
        <p:spPr>
          <a:xfrm>
            <a:off x="9198864" y="4087368"/>
            <a:ext cx="2258568" cy="50292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Context</a:t>
            </a:r>
            <a:endParaRPr lang="en-US" sz="1800" dirty="0"/>
          </a:p>
        </p:txBody>
      </p:sp>
      <p:sp>
        <p:nvSpPr>
          <p:cNvPr id="28" name="Text 21"/>
          <p:cNvSpPr txBox="1"/>
          <p:nvPr/>
        </p:nvSpPr>
        <p:spPr>
          <a:xfrm>
            <a:off x="8558784" y="4754880"/>
            <a:ext cx="2852928" cy="1234440"/>
          </a:xfrm>
          <a:prstGeom prst="rect">
            <a:avLst/>
          </a:prstGeom>
          <a:noFill/>
          <a:ln/>
        </p:spPr>
        <p:txBody>
          <a:bodyPr wrap="square" lIns="0" tIns="0" rIns="0" bIns="0" rtlCol="0" anchor="t"/>
          <a:lstStyle/>
          <a:p>
            <a:pPr marL="0" indent="0">
              <a:buNone/>
            </a:pPr>
            <a:r>
              <a:rPr lang="en-US" sz="1600" dirty="0">
                <a:solidFill>
                  <a:srgbClr val="0F2A43"/>
                </a:solidFill>
                <a:latin typeface="Calibri" pitchFamily="34" charset="0"/>
                <a:ea typeface="Calibri" pitchFamily="34" charset="-122"/>
                <a:cs typeface="Calibri" pitchFamily="34" charset="-120"/>
              </a:rPr>
              <a:t>Short breaks, one-handed use on the move, and very little patience for delays.</a:t>
            </a:r>
            <a:endParaRPr lang="en-US" sz="1600" dirty="0"/>
          </a:p>
        </p:txBody>
      </p:sp>
      <p:sp>
        <p:nvSpPr>
          <p:cNvPr id="29" name="Text 22"/>
          <p:cNvSpPr txBox="1"/>
          <p:nvPr/>
        </p:nvSpPr>
        <p:spPr>
          <a:xfrm>
            <a:off x="4754880" y="6263640"/>
            <a:ext cx="685800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Composite persona based on typical food-delivery behaviour. Validate with real user interviews.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What Fiya says, thinks, does and feels</a:t>
            </a:r>
            <a:endParaRPr lang="en-US" sz="3400" u="sng" dirty="0"/>
          </a:p>
        </p:txBody>
      </p:sp>
      <p:sp>
        <p:nvSpPr>
          <p:cNvPr id="3" name="Shape 1"/>
          <p:cNvSpPr/>
          <p:nvPr/>
        </p:nvSpPr>
        <p:spPr>
          <a:xfrm>
            <a:off x="548640" y="1280160"/>
            <a:ext cx="5387188" cy="2468880"/>
          </a:xfrm>
          <a:prstGeom prst="snip2DiagRect">
            <a:avLst>
              <a:gd name="adj1" fmla="val 0"/>
              <a:gd name="adj2" fmla="val 14000"/>
            </a:avLst>
          </a:prstGeom>
          <a:solidFill>
            <a:srgbClr val="EEF3FB"/>
          </a:solidFill>
          <a:ln w="6350">
            <a:solidFill>
              <a:schemeClr val="tx1"/>
            </a:solidFill>
            <a:prstDash val="solid"/>
          </a:ln>
        </p:spPr>
      </p:sp>
      <p:sp>
        <p:nvSpPr>
          <p:cNvPr id="4" name="Shape 2"/>
          <p:cNvSpPr/>
          <p:nvPr/>
        </p:nvSpPr>
        <p:spPr>
          <a:xfrm>
            <a:off x="822960" y="1463040"/>
            <a:ext cx="548640" cy="548640"/>
          </a:xfrm>
          <a:prstGeom prst="hexagon">
            <a:avLst/>
          </a:prstGeom>
          <a:solidFill>
            <a:srgbClr val="0F2A43"/>
          </a:solidFill>
          <a:ln w="6350">
            <a:solidFill>
              <a:srgbClr val="0F2A43"/>
            </a:solidFill>
            <a:prstDash val="solid"/>
          </a:ln>
        </p:spPr>
      </p:sp>
      <p:pic>
        <p:nvPicPr>
          <p:cNvPr id="5" name="Image 0" descr="preencoded.png"/>
          <p:cNvPicPr>
            <a:picLocks noChangeAspect="1"/>
          </p:cNvPicPr>
          <p:nvPr/>
        </p:nvPicPr>
        <p:blipFill>
          <a:blip r:embed="rId3"/>
          <a:stretch>
            <a:fillRect/>
          </a:stretch>
        </p:blipFill>
        <p:spPr>
          <a:xfrm>
            <a:off x="960120" y="1600200"/>
            <a:ext cx="274320" cy="274320"/>
          </a:xfrm>
          <a:prstGeom prst="rect">
            <a:avLst/>
          </a:prstGeom>
        </p:spPr>
      </p:pic>
      <p:sp>
        <p:nvSpPr>
          <p:cNvPr id="6" name="Text 3"/>
          <p:cNvSpPr txBox="1"/>
          <p:nvPr/>
        </p:nvSpPr>
        <p:spPr>
          <a:xfrm>
            <a:off x="1508760" y="1435608"/>
            <a:ext cx="3649828" cy="603504"/>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Says</a:t>
            </a:r>
            <a:endParaRPr lang="en-US" sz="2000" dirty="0"/>
          </a:p>
          <a:p>
            <a:pPr marL="0" indent="0">
              <a:buNone/>
            </a:pPr>
            <a:r>
              <a:rPr lang="en-US" sz="1200" dirty="0">
                <a:solidFill>
                  <a:srgbClr val="5B6B82"/>
                </a:solidFill>
                <a:latin typeface="Calibri" pitchFamily="34" charset="0"/>
                <a:ea typeface="Calibri" pitchFamily="34" charset="-122"/>
                <a:cs typeface="Calibri" pitchFamily="34" charset="-120"/>
              </a:rPr>
              <a:t>What she says out loud</a:t>
            </a:r>
            <a:endParaRPr lang="en-US" sz="2000" dirty="0"/>
          </a:p>
        </p:txBody>
      </p:sp>
      <p:sp>
        <p:nvSpPr>
          <p:cNvPr id="7" name="Text 4"/>
          <p:cNvSpPr txBox="1"/>
          <p:nvPr/>
        </p:nvSpPr>
        <p:spPr>
          <a:xfrm>
            <a:off x="822960" y="219456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“Why did my 30-minute ETA turn into 45?”</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“Why am I paying platform and handling fees too?”</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“Delivered fast again. Reordering from Swiggy.”</a:t>
            </a:r>
            <a:endParaRPr lang="en-US" sz="1500" dirty="0"/>
          </a:p>
        </p:txBody>
      </p:sp>
      <p:sp>
        <p:nvSpPr>
          <p:cNvPr id="8" name="Shape 5"/>
          <p:cNvSpPr/>
          <p:nvPr/>
        </p:nvSpPr>
        <p:spPr>
          <a:xfrm>
            <a:off x="6255868" y="1280160"/>
            <a:ext cx="5387188" cy="2468880"/>
          </a:xfrm>
          <a:prstGeom prst="snip2DiagRect">
            <a:avLst>
              <a:gd name="adj1" fmla="val 0"/>
              <a:gd name="adj2" fmla="val 14000"/>
            </a:avLst>
          </a:prstGeom>
          <a:solidFill>
            <a:srgbClr val="EEF3FB"/>
          </a:solidFill>
          <a:ln w="6350">
            <a:solidFill>
              <a:schemeClr val="tx1"/>
            </a:solidFill>
            <a:prstDash val="solid"/>
          </a:ln>
        </p:spPr>
      </p:sp>
      <p:sp>
        <p:nvSpPr>
          <p:cNvPr id="9" name="Shape 6"/>
          <p:cNvSpPr/>
          <p:nvPr/>
        </p:nvSpPr>
        <p:spPr>
          <a:xfrm>
            <a:off x="7033108" y="1463040"/>
            <a:ext cx="548640" cy="548640"/>
          </a:xfrm>
          <a:prstGeom prst="hexagon">
            <a:avLst/>
          </a:prstGeom>
          <a:solidFill>
            <a:srgbClr val="0F2A43"/>
          </a:solidFill>
          <a:ln w="6350">
            <a:solidFill>
              <a:srgbClr val="0F2A43"/>
            </a:solidFill>
            <a:prstDash val="solid"/>
          </a:ln>
        </p:spPr>
      </p:sp>
      <p:pic>
        <p:nvPicPr>
          <p:cNvPr id="10" name="Image 1" descr="preencoded.png"/>
          <p:cNvPicPr>
            <a:picLocks noChangeAspect="1"/>
          </p:cNvPicPr>
          <p:nvPr/>
        </p:nvPicPr>
        <p:blipFill>
          <a:blip r:embed="rId4"/>
          <a:stretch>
            <a:fillRect/>
          </a:stretch>
        </p:blipFill>
        <p:spPr>
          <a:xfrm>
            <a:off x="7170268" y="1600200"/>
            <a:ext cx="274320" cy="274320"/>
          </a:xfrm>
          <a:prstGeom prst="rect">
            <a:avLst/>
          </a:prstGeom>
        </p:spPr>
      </p:pic>
      <p:sp>
        <p:nvSpPr>
          <p:cNvPr id="11" name="Text 7"/>
          <p:cNvSpPr txBox="1"/>
          <p:nvPr/>
        </p:nvSpPr>
        <p:spPr>
          <a:xfrm>
            <a:off x="7718908" y="1435608"/>
            <a:ext cx="3649828" cy="603504"/>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Thinks</a:t>
            </a:r>
            <a:endParaRPr lang="en-US" sz="2000" dirty="0"/>
          </a:p>
          <a:p>
            <a:pPr marL="0" indent="0">
              <a:buNone/>
            </a:pPr>
            <a:r>
              <a:rPr lang="en-US" sz="1200" dirty="0">
                <a:solidFill>
                  <a:srgbClr val="5B6B82"/>
                </a:solidFill>
                <a:latin typeface="Calibri" pitchFamily="34" charset="0"/>
                <a:ea typeface="Calibri" pitchFamily="34" charset="-122"/>
                <a:cs typeface="Calibri" pitchFamily="34" charset="-120"/>
              </a:rPr>
              <a:t>What goes on in her head</a:t>
            </a:r>
            <a:endParaRPr lang="en-US" sz="2000" dirty="0"/>
          </a:p>
        </p:txBody>
      </p:sp>
      <p:sp>
        <p:nvSpPr>
          <p:cNvPr id="12" name="Text 8"/>
          <p:cNvSpPr txBox="1"/>
          <p:nvPr/>
        </p:nvSpPr>
        <p:spPr>
          <a:xfrm>
            <a:off x="7033108" y="2194560"/>
            <a:ext cx="4335628" cy="1463040"/>
          </a:xfrm>
          <a:prstGeom prst="rect">
            <a:avLst/>
          </a:prstGeom>
          <a:noFill/>
          <a:ln>
            <a:solidFill>
              <a:srgbClr val="EEF3FB"/>
            </a:solidFill>
          </a:ln>
        </p:spPr>
        <p:txBody>
          <a:bodyPr wrap="square" lIns="0" tIns="0" rIns="0" bIns="0" rtlCol="0" anchor="t"/>
          <a:lstStyle/>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Will it arrive hot and on time?</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Is my Swiggy One benefit actually applying?</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If an item is missing, will Swiggy refund me quickly?</a:t>
            </a:r>
            <a:endParaRPr lang="en-US" sz="1500" dirty="0"/>
          </a:p>
        </p:txBody>
      </p:sp>
      <p:sp>
        <p:nvSpPr>
          <p:cNvPr id="13" name="Shape 9"/>
          <p:cNvSpPr/>
          <p:nvPr/>
        </p:nvSpPr>
        <p:spPr>
          <a:xfrm>
            <a:off x="548640" y="3931920"/>
            <a:ext cx="5387188" cy="2468880"/>
          </a:xfrm>
          <a:prstGeom prst="snip2DiagRect">
            <a:avLst>
              <a:gd name="adj1" fmla="val 0"/>
              <a:gd name="adj2" fmla="val 14000"/>
            </a:avLst>
          </a:prstGeom>
          <a:solidFill>
            <a:srgbClr val="EEF3FB"/>
          </a:solidFill>
          <a:ln w="6350">
            <a:solidFill>
              <a:schemeClr val="tx1">
                <a:lumMod val="95000"/>
                <a:lumOff val="5000"/>
              </a:schemeClr>
            </a:solidFill>
            <a:prstDash val="solid"/>
          </a:ln>
        </p:spPr>
      </p:sp>
      <p:sp>
        <p:nvSpPr>
          <p:cNvPr id="14" name="Shape 10"/>
          <p:cNvSpPr/>
          <p:nvPr/>
        </p:nvSpPr>
        <p:spPr>
          <a:xfrm>
            <a:off x="822960" y="4114800"/>
            <a:ext cx="548640" cy="548640"/>
          </a:xfrm>
          <a:prstGeom prst="hexagon">
            <a:avLst/>
          </a:prstGeom>
          <a:solidFill>
            <a:srgbClr val="0F2A43"/>
          </a:solidFill>
          <a:ln w="6350">
            <a:solidFill>
              <a:srgbClr val="0F2A43"/>
            </a:solidFill>
            <a:prstDash val="solid"/>
          </a:ln>
        </p:spPr>
      </p:sp>
      <p:pic>
        <p:nvPicPr>
          <p:cNvPr id="15" name="Image 2" descr="preencoded.png"/>
          <p:cNvPicPr>
            <a:picLocks noChangeAspect="1"/>
          </p:cNvPicPr>
          <p:nvPr/>
        </p:nvPicPr>
        <p:blipFill>
          <a:blip r:embed="rId5"/>
          <a:stretch>
            <a:fillRect/>
          </a:stretch>
        </p:blipFill>
        <p:spPr>
          <a:xfrm>
            <a:off x="960120" y="4251960"/>
            <a:ext cx="274320" cy="274320"/>
          </a:xfrm>
          <a:prstGeom prst="rect">
            <a:avLst/>
          </a:prstGeom>
        </p:spPr>
      </p:pic>
      <p:sp>
        <p:nvSpPr>
          <p:cNvPr id="16" name="Text 11"/>
          <p:cNvSpPr txBox="1"/>
          <p:nvPr/>
        </p:nvSpPr>
        <p:spPr>
          <a:xfrm>
            <a:off x="1508760" y="4087368"/>
            <a:ext cx="3649828" cy="603504"/>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Does</a:t>
            </a:r>
            <a:endParaRPr lang="en-US" sz="2000" dirty="0"/>
          </a:p>
          <a:p>
            <a:pPr marL="0" indent="0">
              <a:buNone/>
            </a:pPr>
            <a:r>
              <a:rPr lang="en-US" sz="1200" dirty="0">
                <a:solidFill>
                  <a:srgbClr val="5B6B82"/>
                </a:solidFill>
                <a:latin typeface="Calibri" pitchFamily="34" charset="0"/>
                <a:ea typeface="Calibri" pitchFamily="34" charset="-122"/>
                <a:cs typeface="Calibri" pitchFamily="34" charset="-120"/>
              </a:rPr>
              <a:t>What she actually does</a:t>
            </a:r>
            <a:endParaRPr lang="en-US" sz="2000" dirty="0"/>
          </a:p>
        </p:txBody>
      </p:sp>
      <p:sp>
        <p:nvSpPr>
          <p:cNvPr id="17" name="Text 12"/>
          <p:cNvSpPr txBox="1"/>
          <p:nvPr/>
        </p:nvSpPr>
        <p:spPr>
          <a:xfrm>
            <a:off x="822960" y="484632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Filters by rating, delivery time and price</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Compares Swiggy offers with rival apps</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Watches the rider on the live map again and again</a:t>
            </a:r>
            <a:endParaRPr lang="en-US" sz="1500" dirty="0"/>
          </a:p>
        </p:txBody>
      </p:sp>
      <p:sp>
        <p:nvSpPr>
          <p:cNvPr id="18" name="Shape 13"/>
          <p:cNvSpPr/>
          <p:nvPr/>
        </p:nvSpPr>
        <p:spPr>
          <a:xfrm>
            <a:off x="6255868" y="3931920"/>
            <a:ext cx="5387188" cy="2468880"/>
          </a:xfrm>
          <a:prstGeom prst="snip2DiagRect">
            <a:avLst>
              <a:gd name="adj1" fmla="val 0"/>
              <a:gd name="adj2" fmla="val 14000"/>
            </a:avLst>
          </a:prstGeom>
          <a:solidFill>
            <a:srgbClr val="EEF3FB"/>
          </a:solidFill>
          <a:ln w="6350">
            <a:solidFill>
              <a:schemeClr val="tx1">
                <a:lumMod val="95000"/>
                <a:lumOff val="5000"/>
              </a:schemeClr>
            </a:solidFill>
            <a:prstDash val="solid"/>
          </a:ln>
        </p:spPr>
      </p:sp>
      <p:sp>
        <p:nvSpPr>
          <p:cNvPr id="19" name="Shape 14"/>
          <p:cNvSpPr/>
          <p:nvPr/>
        </p:nvSpPr>
        <p:spPr>
          <a:xfrm>
            <a:off x="7033108" y="4114800"/>
            <a:ext cx="548640" cy="548640"/>
          </a:xfrm>
          <a:prstGeom prst="hexagon">
            <a:avLst/>
          </a:prstGeom>
          <a:solidFill>
            <a:srgbClr val="0F2A43"/>
          </a:solidFill>
          <a:ln w="6350">
            <a:solidFill>
              <a:srgbClr val="0F2A43"/>
            </a:solidFill>
            <a:prstDash val="solid"/>
          </a:ln>
        </p:spPr>
      </p:sp>
      <p:pic>
        <p:nvPicPr>
          <p:cNvPr id="20" name="Image 3" descr="preencoded.png"/>
          <p:cNvPicPr>
            <a:picLocks noChangeAspect="1"/>
          </p:cNvPicPr>
          <p:nvPr/>
        </p:nvPicPr>
        <p:blipFill>
          <a:blip r:embed="rId6"/>
          <a:stretch>
            <a:fillRect/>
          </a:stretch>
        </p:blipFill>
        <p:spPr>
          <a:xfrm>
            <a:off x="7170268" y="4251960"/>
            <a:ext cx="274320" cy="274320"/>
          </a:xfrm>
          <a:prstGeom prst="rect">
            <a:avLst/>
          </a:prstGeom>
        </p:spPr>
      </p:pic>
      <p:sp>
        <p:nvSpPr>
          <p:cNvPr id="21" name="Text 15"/>
          <p:cNvSpPr txBox="1"/>
          <p:nvPr/>
        </p:nvSpPr>
        <p:spPr>
          <a:xfrm>
            <a:off x="7718908" y="4087368"/>
            <a:ext cx="3649828" cy="603504"/>
          </a:xfrm>
          <a:prstGeom prst="rect">
            <a:avLst/>
          </a:prstGeom>
          <a:noFill/>
          <a:ln/>
        </p:spPr>
        <p:txBody>
          <a:bodyPr wrap="square" lIns="0" tIns="0" rIns="0" bIns="0" rtlCol="0" anchor="ctr"/>
          <a:lstStyle/>
          <a:p>
            <a:pPr marL="0" indent="0">
              <a:buNone/>
            </a:pPr>
            <a:r>
              <a:rPr lang="en-US" sz="2000" b="1" dirty="0">
                <a:solidFill>
                  <a:srgbClr val="0F2A43"/>
                </a:solidFill>
                <a:latin typeface="Cambria" pitchFamily="34" charset="0"/>
                <a:ea typeface="Cambria" pitchFamily="34" charset="-122"/>
                <a:cs typeface="Cambria" pitchFamily="34" charset="-120"/>
              </a:rPr>
              <a:t>Feels</a:t>
            </a:r>
            <a:endParaRPr lang="en-US" sz="2000" dirty="0"/>
          </a:p>
          <a:p>
            <a:pPr marL="0" indent="0">
              <a:buNone/>
            </a:pPr>
            <a:r>
              <a:rPr lang="en-US" sz="1200" dirty="0">
                <a:solidFill>
                  <a:srgbClr val="5B6B82"/>
                </a:solidFill>
                <a:latin typeface="Calibri" pitchFamily="34" charset="0"/>
                <a:ea typeface="Calibri" pitchFamily="34" charset="-122"/>
                <a:cs typeface="Calibri" pitchFamily="34" charset="-120"/>
              </a:rPr>
              <a:t>What she feels along the way</a:t>
            </a:r>
            <a:endParaRPr lang="en-US" sz="2000" dirty="0"/>
          </a:p>
        </p:txBody>
      </p:sp>
      <p:sp>
        <p:nvSpPr>
          <p:cNvPr id="22" name="Text 16"/>
          <p:cNvSpPr txBox="1"/>
          <p:nvPr/>
        </p:nvSpPr>
        <p:spPr>
          <a:xfrm>
            <a:off x="7033108" y="484632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Excited and hungry while browsing</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Anxious and impatient during the wait</a:t>
            </a:r>
            <a:endParaRPr lang="en-US" sz="1500" dirty="0"/>
          </a:p>
          <a:p>
            <a:pPr marL="177800" indent="-177800">
              <a:spcAft>
                <a:spcPts val="800"/>
              </a:spcAft>
              <a:buSzPct val="100000"/>
              <a:buChar char="•"/>
            </a:pPr>
            <a:r>
              <a:rPr lang="en-US" sz="1500" dirty="0">
                <a:solidFill>
                  <a:srgbClr val="0F2A43"/>
                </a:solidFill>
                <a:latin typeface="Calibri" pitchFamily="34" charset="0"/>
                <a:ea typeface="Calibri" pitchFamily="34" charset="-122"/>
                <a:cs typeface="Calibri" pitchFamily="34" charset="-120"/>
              </a:rPr>
              <a:t>Frustrated by surprise fees; delighted when it just works</a:t>
            </a:r>
            <a:endParaRPr lang="en-US" sz="1500" dirty="0"/>
          </a:p>
        </p:txBody>
      </p:sp>
      <p:sp>
        <p:nvSpPr>
          <p:cNvPr id="23" name="Shape 17"/>
          <p:cNvSpPr/>
          <p:nvPr/>
        </p:nvSpPr>
        <p:spPr>
          <a:xfrm>
            <a:off x="5501945" y="3246120"/>
            <a:ext cx="1188720" cy="1188720"/>
          </a:xfrm>
          <a:prstGeom prst="hexagon">
            <a:avLst/>
          </a:prstGeom>
          <a:solidFill>
            <a:srgbClr val="2F6BFF"/>
          </a:solidFill>
          <a:ln w="50800">
            <a:solidFill>
              <a:srgbClr val="FFFFFF"/>
            </a:solidFill>
            <a:prstDash val="solid"/>
          </a:ln>
        </p:spPr>
      </p:sp>
      <p:pic>
        <p:nvPicPr>
          <p:cNvPr id="24" name="Image 4" descr="preencoded.png"/>
          <p:cNvPicPr>
            <a:picLocks noChangeAspect="1"/>
          </p:cNvPicPr>
          <p:nvPr/>
        </p:nvPicPr>
        <p:blipFill>
          <a:blip r:embed="rId7"/>
          <a:stretch>
            <a:fillRect/>
          </a:stretch>
        </p:blipFill>
        <p:spPr>
          <a:xfrm>
            <a:off x="5913425" y="3480560"/>
            <a:ext cx="365760" cy="365760"/>
          </a:xfrm>
          <a:prstGeom prst="rect">
            <a:avLst/>
          </a:prstGeom>
        </p:spPr>
      </p:pic>
      <p:sp>
        <p:nvSpPr>
          <p:cNvPr id="25" name="Text 18"/>
          <p:cNvSpPr txBox="1"/>
          <p:nvPr/>
        </p:nvSpPr>
        <p:spPr>
          <a:xfrm>
            <a:off x="5501945" y="3872584"/>
            <a:ext cx="11887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Fiya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6888175" cy="731520"/>
          </a:xfrm>
          <a:prstGeom prst="rect">
            <a:avLst/>
          </a:prstGeom>
          <a:noFill/>
          <a:ln>
            <a:solidFill>
              <a:schemeClr val="bg1"/>
            </a:solid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Pains and gains shape every order</a:t>
            </a:r>
            <a:endParaRPr lang="en-US" sz="3400" u="sng" dirty="0"/>
          </a:p>
        </p:txBody>
      </p:sp>
      <p:sp>
        <p:nvSpPr>
          <p:cNvPr id="3" name="Shape 1"/>
          <p:cNvSpPr/>
          <p:nvPr/>
        </p:nvSpPr>
        <p:spPr>
          <a:xfrm>
            <a:off x="548640" y="1371600"/>
            <a:ext cx="5394960" cy="4846320"/>
          </a:xfrm>
          <a:prstGeom prst="snip2DiagRect">
            <a:avLst>
              <a:gd name="adj1" fmla="val 0"/>
              <a:gd name="adj2" fmla="val 14000"/>
            </a:avLst>
          </a:prstGeom>
          <a:solidFill>
            <a:srgbClr val="FDE8E8"/>
          </a:solidFill>
          <a:ln w="6350">
            <a:solidFill>
              <a:schemeClr val="tx1"/>
            </a:solidFill>
            <a:prstDash val="solid"/>
          </a:ln>
        </p:spPr>
      </p:sp>
      <p:sp>
        <p:nvSpPr>
          <p:cNvPr id="4" name="Shape 2"/>
          <p:cNvSpPr/>
          <p:nvPr/>
        </p:nvSpPr>
        <p:spPr>
          <a:xfrm>
            <a:off x="868680" y="1645920"/>
            <a:ext cx="640080" cy="640080"/>
          </a:xfrm>
          <a:prstGeom prst="hexagon">
            <a:avLst/>
          </a:prstGeom>
          <a:solidFill>
            <a:srgbClr val="E5484D"/>
          </a:solidFill>
          <a:ln w="6350">
            <a:solidFill>
              <a:srgbClr val="E5484D"/>
            </a:solidFill>
            <a:prstDash val="solid"/>
          </a:ln>
        </p:spPr>
      </p:sp>
      <p:pic>
        <p:nvPicPr>
          <p:cNvPr id="5" name="Image 0" descr="preencoded.png"/>
          <p:cNvPicPr>
            <a:picLocks noChangeAspect="1"/>
          </p:cNvPicPr>
          <p:nvPr/>
        </p:nvPicPr>
        <p:blipFill>
          <a:blip r:embed="rId3"/>
          <a:stretch>
            <a:fillRect/>
          </a:stretch>
        </p:blipFill>
        <p:spPr>
          <a:xfrm>
            <a:off x="1028700" y="1805940"/>
            <a:ext cx="320040" cy="320040"/>
          </a:xfrm>
          <a:prstGeom prst="rect">
            <a:avLst/>
          </a:prstGeom>
        </p:spPr>
      </p:pic>
      <p:sp>
        <p:nvSpPr>
          <p:cNvPr id="6" name="Text 3"/>
          <p:cNvSpPr txBox="1"/>
          <p:nvPr/>
        </p:nvSpPr>
        <p:spPr>
          <a:xfrm>
            <a:off x="1737360" y="1627632"/>
            <a:ext cx="3931920" cy="676656"/>
          </a:xfrm>
          <a:prstGeom prst="rect">
            <a:avLst/>
          </a:prstGeom>
          <a:noFill/>
          <a:ln/>
        </p:spPr>
        <p:txBody>
          <a:bodyPr wrap="square" lIns="0" tIns="0" rIns="0" bIns="0" rtlCol="0" anchor="ctr"/>
          <a:lstStyle/>
          <a:p>
            <a:pPr marL="0" indent="0">
              <a:buNone/>
            </a:pPr>
            <a:r>
              <a:rPr lang="en-US" sz="2400" b="1" dirty="0">
                <a:solidFill>
                  <a:srgbClr val="0F2A43"/>
                </a:solidFill>
                <a:latin typeface="Cambria" pitchFamily="34" charset="0"/>
                <a:ea typeface="Cambria" pitchFamily="34" charset="-122"/>
                <a:cs typeface="Cambria" pitchFamily="34" charset="-120"/>
              </a:rPr>
              <a:t>Pains</a:t>
            </a:r>
            <a:endParaRPr lang="en-US" sz="2400" dirty="0"/>
          </a:p>
          <a:p>
            <a:pPr marL="0" indent="0">
              <a:buNone/>
            </a:pPr>
            <a:r>
              <a:rPr lang="en-US" sz="1300" dirty="0">
                <a:solidFill>
                  <a:srgbClr val="5B6B82"/>
                </a:solidFill>
                <a:latin typeface="Calibri" pitchFamily="34" charset="0"/>
                <a:ea typeface="Calibri" pitchFamily="34" charset="-122"/>
                <a:cs typeface="Calibri" pitchFamily="34" charset="-120"/>
              </a:rPr>
              <a:t>What gets in her way</a:t>
            </a:r>
            <a:endParaRPr lang="en-US" sz="2400" dirty="0"/>
          </a:p>
        </p:txBody>
      </p:sp>
      <p:sp>
        <p:nvSpPr>
          <p:cNvPr id="7" name="Shape 4"/>
          <p:cNvSpPr/>
          <p:nvPr/>
        </p:nvSpPr>
        <p:spPr>
          <a:xfrm>
            <a:off x="914400" y="2688336"/>
            <a:ext cx="310896" cy="310896"/>
          </a:xfrm>
          <a:prstGeom prst="hexagon">
            <a:avLst/>
          </a:prstGeom>
          <a:solidFill>
            <a:srgbClr val="E5484D"/>
          </a:solidFill>
          <a:ln w="6350">
            <a:solidFill>
              <a:srgbClr val="E5484D"/>
            </a:solidFill>
            <a:prstDash val="solid"/>
          </a:ln>
        </p:spPr>
      </p:sp>
      <p:pic>
        <p:nvPicPr>
          <p:cNvPr id="8" name="Image 1" descr="preencoded.png"/>
          <p:cNvPicPr>
            <a:picLocks noChangeAspect="1"/>
          </p:cNvPicPr>
          <p:nvPr/>
        </p:nvPicPr>
        <p:blipFill>
          <a:blip r:embed="rId4"/>
          <a:stretch>
            <a:fillRect/>
          </a:stretch>
        </p:blipFill>
        <p:spPr>
          <a:xfrm>
            <a:off x="996696" y="2770632"/>
            <a:ext cx="146304" cy="146304"/>
          </a:xfrm>
          <a:prstGeom prst="rect">
            <a:avLst/>
          </a:prstGeom>
        </p:spPr>
      </p:pic>
      <p:sp>
        <p:nvSpPr>
          <p:cNvPr id="9" name="Text 5"/>
          <p:cNvSpPr txBox="1"/>
          <p:nvPr/>
        </p:nvSpPr>
        <p:spPr>
          <a:xfrm>
            <a:off x="1417320" y="2606040"/>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Platform, handling and surge fees at checkout</a:t>
            </a:r>
            <a:endParaRPr lang="en-US" sz="1500" dirty="0"/>
          </a:p>
        </p:txBody>
      </p:sp>
      <p:sp>
        <p:nvSpPr>
          <p:cNvPr id="10" name="Shape 6"/>
          <p:cNvSpPr/>
          <p:nvPr/>
        </p:nvSpPr>
        <p:spPr>
          <a:xfrm>
            <a:off x="914400" y="3255264"/>
            <a:ext cx="310896" cy="310896"/>
          </a:xfrm>
          <a:prstGeom prst="hexagon">
            <a:avLst/>
          </a:prstGeom>
          <a:solidFill>
            <a:srgbClr val="E5484D"/>
          </a:solidFill>
          <a:ln w="6350">
            <a:solidFill>
              <a:srgbClr val="E5484D"/>
            </a:solidFill>
            <a:prstDash val="solid"/>
          </a:ln>
        </p:spPr>
      </p:sp>
      <p:pic>
        <p:nvPicPr>
          <p:cNvPr id="11" name="Image 2" descr="preencoded.png"/>
          <p:cNvPicPr>
            <a:picLocks noChangeAspect="1"/>
          </p:cNvPicPr>
          <p:nvPr/>
        </p:nvPicPr>
        <p:blipFill>
          <a:blip r:embed="rId4"/>
          <a:stretch>
            <a:fillRect/>
          </a:stretch>
        </p:blipFill>
        <p:spPr>
          <a:xfrm>
            <a:off x="996696" y="3337560"/>
            <a:ext cx="146304" cy="146304"/>
          </a:xfrm>
          <a:prstGeom prst="rect">
            <a:avLst/>
          </a:prstGeom>
        </p:spPr>
      </p:pic>
      <p:sp>
        <p:nvSpPr>
          <p:cNvPr id="12" name="Text 7"/>
          <p:cNvSpPr txBox="1"/>
          <p:nvPr/>
        </p:nvSpPr>
        <p:spPr>
          <a:xfrm>
            <a:off x="1417320" y="3172968"/>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Rain surcharges and ETAs that keep changing</a:t>
            </a:r>
            <a:endParaRPr lang="en-US" sz="1500" dirty="0"/>
          </a:p>
        </p:txBody>
      </p:sp>
      <p:sp>
        <p:nvSpPr>
          <p:cNvPr id="13" name="Shape 8"/>
          <p:cNvSpPr/>
          <p:nvPr/>
        </p:nvSpPr>
        <p:spPr>
          <a:xfrm>
            <a:off x="914400" y="3822192"/>
            <a:ext cx="310896" cy="310896"/>
          </a:xfrm>
          <a:prstGeom prst="hexagon">
            <a:avLst/>
          </a:prstGeom>
          <a:solidFill>
            <a:srgbClr val="E5484D"/>
          </a:solidFill>
          <a:ln w="6350">
            <a:solidFill>
              <a:srgbClr val="E5484D"/>
            </a:solidFill>
            <a:prstDash val="solid"/>
          </a:ln>
        </p:spPr>
      </p:sp>
      <p:pic>
        <p:nvPicPr>
          <p:cNvPr id="14" name="Image 3" descr="preencoded.png"/>
          <p:cNvPicPr>
            <a:picLocks noChangeAspect="1"/>
          </p:cNvPicPr>
          <p:nvPr/>
        </p:nvPicPr>
        <p:blipFill>
          <a:blip r:embed="rId4"/>
          <a:stretch>
            <a:fillRect/>
          </a:stretch>
        </p:blipFill>
        <p:spPr>
          <a:xfrm>
            <a:off x="996696" y="3904488"/>
            <a:ext cx="146304" cy="146304"/>
          </a:xfrm>
          <a:prstGeom prst="rect">
            <a:avLst/>
          </a:prstGeom>
        </p:spPr>
      </p:pic>
      <p:sp>
        <p:nvSpPr>
          <p:cNvPr id="15" name="Text 9"/>
          <p:cNvSpPr txBox="1"/>
          <p:nvPr/>
        </p:nvSpPr>
        <p:spPr>
          <a:xfrm>
            <a:off x="1417320" y="3739896"/>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Missing items, wrong Instamart substitutions</a:t>
            </a:r>
            <a:endParaRPr lang="en-US" sz="1500" dirty="0"/>
          </a:p>
        </p:txBody>
      </p:sp>
      <p:sp>
        <p:nvSpPr>
          <p:cNvPr id="16" name="Shape 10"/>
          <p:cNvSpPr/>
          <p:nvPr/>
        </p:nvSpPr>
        <p:spPr>
          <a:xfrm>
            <a:off x="914400" y="4389120"/>
            <a:ext cx="310896" cy="310896"/>
          </a:xfrm>
          <a:prstGeom prst="hexagon">
            <a:avLst/>
          </a:prstGeom>
          <a:solidFill>
            <a:srgbClr val="E5484D"/>
          </a:solidFill>
          <a:ln w="6350">
            <a:solidFill>
              <a:srgbClr val="E5484D"/>
            </a:solidFill>
            <a:prstDash val="solid"/>
          </a:ln>
        </p:spPr>
      </p:sp>
      <p:pic>
        <p:nvPicPr>
          <p:cNvPr id="17" name="Image 4" descr="preencoded.png"/>
          <p:cNvPicPr>
            <a:picLocks noChangeAspect="1"/>
          </p:cNvPicPr>
          <p:nvPr/>
        </p:nvPicPr>
        <p:blipFill>
          <a:blip r:embed="rId4"/>
          <a:stretch>
            <a:fillRect/>
          </a:stretch>
        </p:blipFill>
        <p:spPr>
          <a:xfrm>
            <a:off x="996696" y="4471416"/>
            <a:ext cx="146304" cy="146304"/>
          </a:xfrm>
          <a:prstGeom prst="rect">
            <a:avLst/>
          </a:prstGeom>
        </p:spPr>
      </p:pic>
      <p:sp>
        <p:nvSpPr>
          <p:cNvPr id="18" name="Text 11"/>
          <p:cNvSpPr txBox="1"/>
          <p:nvPr/>
        </p:nvSpPr>
        <p:spPr>
          <a:xfrm>
            <a:off x="1417320" y="4306824"/>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Slow refunds and chatbot-only support</a:t>
            </a:r>
            <a:endParaRPr lang="en-US" sz="1500" dirty="0"/>
          </a:p>
        </p:txBody>
      </p:sp>
      <p:sp>
        <p:nvSpPr>
          <p:cNvPr id="19" name="Shape 12"/>
          <p:cNvSpPr/>
          <p:nvPr/>
        </p:nvSpPr>
        <p:spPr>
          <a:xfrm>
            <a:off x="914400" y="4956048"/>
            <a:ext cx="310896" cy="310896"/>
          </a:xfrm>
          <a:prstGeom prst="hexagon">
            <a:avLst/>
          </a:prstGeom>
          <a:solidFill>
            <a:srgbClr val="E5484D"/>
          </a:solidFill>
          <a:ln w="6350">
            <a:solidFill>
              <a:srgbClr val="E5484D"/>
            </a:solidFill>
            <a:prstDash val="solid"/>
          </a:ln>
        </p:spPr>
      </p:sp>
      <p:pic>
        <p:nvPicPr>
          <p:cNvPr id="20" name="Image 5" descr="preencoded.png"/>
          <p:cNvPicPr>
            <a:picLocks noChangeAspect="1"/>
          </p:cNvPicPr>
          <p:nvPr/>
        </p:nvPicPr>
        <p:blipFill>
          <a:blip r:embed="rId4"/>
          <a:stretch>
            <a:fillRect/>
          </a:stretch>
        </p:blipFill>
        <p:spPr>
          <a:xfrm>
            <a:off x="996696" y="5038344"/>
            <a:ext cx="146304" cy="146304"/>
          </a:xfrm>
          <a:prstGeom prst="rect">
            <a:avLst/>
          </a:prstGeom>
        </p:spPr>
      </p:pic>
      <p:sp>
        <p:nvSpPr>
          <p:cNvPr id="21" name="Text 13"/>
          <p:cNvSpPr txBox="1"/>
          <p:nvPr/>
        </p:nvSpPr>
        <p:spPr>
          <a:xfrm>
            <a:off x="1417320" y="4873752"/>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Swiggy One perks and coupons that won’t apply</a:t>
            </a:r>
            <a:endParaRPr lang="en-US" sz="1500" dirty="0"/>
          </a:p>
        </p:txBody>
      </p:sp>
      <p:sp>
        <p:nvSpPr>
          <p:cNvPr id="22" name="Shape 14"/>
          <p:cNvSpPr/>
          <p:nvPr/>
        </p:nvSpPr>
        <p:spPr>
          <a:xfrm>
            <a:off x="914400" y="5522976"/>
            <a:ext cx="310896" cy="310896"/>
          </a:xfrm>
          <a:prstGeom prst="hexagon">
            <a:avLst/>
          </a:prstGeom>
          <a:solidFill>
            <a:srgbClr val="E5484D"/>
          </a:solidFill>
          <a:ln w="6350">
            <a:solidFill>
              <a:srgbClr val="E5484D"/>
            </a:solidFill>
            <a:prstDash val="solid"/>
          </a:ln>
        </p:spPr>
      </p:sp>
      <p:pic>
        <p:nvPicPr>
          <p:cNvPr id="23" name="Image 6" descr="preencoded.png"/>
          <p:cNvPicPr>
            <a:picLocks noChangeAspect="1"/>
          </p:cNvPicPr>
          <p:nvPr/>
        </p:nvPicPr>
        <p:blipFill>
          <a:blip r:embed="rId4"/>
          <a:stretch>
            <a:fillRect/>
          </a:stretch>
        </p:blipFill>
        <p:spPr>
          <a:xfrm>
            <a:off x="996696" y="5605272"/>
            <a:ext cx="146304" cy="146304"/>
          </a:xfrm>
          <a:prstGeom prst="rect">
            <a:avLst/>
          </a:prstGeom>
        </p:spPr>
      </p:pic>
      <p:sp>
        <p:nvSpPr>
          <p:cNvPr id="24" name="Text 15"/>
          <p:cNvSpPr txBox="1"/>
          <p:nvPr/>
        </p:nvSpPr>
        <p:spPr>
          <a:xfrm>
            <a:off x="1417320" y="5440680"/>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UPI payment failures at the last step</a:t>
            </a:r>
            <a:endParaRPr lang="en-US" sz="1500" dirty="0"/>
          </a:p>
        </p:txBody>
      </p:sp>
      <p:sp>
        <p:nvSpPr>
          <p:cNvPr id="25" name="Shape 16"/>
          <p:cNvSpPr/>
          <p:nvPr/>
        </p:nvSpPr>
        <p:spPr>
          <a:xfrm>
            <a:off x="6248095" y="1371600"/>
            <a:ext cx="5394960" cy="4846320"/>
          </a:xfrm>
          <a:prstGeom prst="snip2DiagRect">
            <a:avLst>
              <a:gd name="adj1" fmla="val 0"/>
              <a:gd name="adj2" fmla="val 14000"/>
            </a:avLst>
          </a:prstGeom>
          <a:solidFill>
            <a:srgbClr val="E3F5EA"/>
          </a:solidFill>
          <a:ln w="6350">
            <a:solidFill>
              <a:schemeClr val="tx1"/>
            </a:solidFill>
            <a:prstDash val="solid"/>
          </a:ln>
        </p:spPr>
      </p:sp>
      <p:sp>
        <p:nvSpPr>
          <p:cNvPr id="26" name="Shape 17"/>
          <p:cNvSpPr/>
          <p:nvPr/>
        </p:nvSpPr>
        <p:spPr>
          <a:xfrm>
            <a:off x="6568135" y="1645920"/>
            <a:ext cx="640080" cy="640080"/>
          </a:xfrm>
          <a:prstGeom prst="hexagon">
            <a:avLst/>
          </a:prstGeom>
          <a:solidFill>
            <a:srgbClr val="15803D"/>
          </a:solidFill>
          <a:ln w="6350">
            <a:solidFill>
              <a:srgbClr val="15803D"/>
            </a:solidFill>
            <a:prstDash val="solid"/>
          </a:ln>
        </p:spPr>
      </p:sp>
      <p:pic>
        <p:nvPicPr>
          <p:cNvPr id="27" name="Image 7" descr="preencoded.png"/>
          <p:cNvPicPr>
            <a:picLocks noChangeAspect="1"/>
          </p:cNvPicPr>
          <p:nvPr/>
        </p:nvPicPr>
        <p:blipFill>
          <a:blip r:embed="rId5"/>
          <a:stretch>
            <a:fillRect/>
          </a:stretch>
        </p:blipFill>
        <p:spPr>
          <a:xfrm>
            <a:off x="6728155" y="1805940"/>
            <a:ext cx="320040" cy="320040"/>
          </a:xfrm>
          <a:prstGeom prst="rect">
            <a:avLst/>
          </a:prstGeom>
        </p:spPr>
      </p:pic>
      <p:sp>
        <p:nvSpPr>
          <p:cNvPr id="28" name="Text 18"/>
          <p:cNvSpPr txBox="1"/>
          <p:nvPr/>
        </p:nvSpPr>
        <p:spPr>
          <a:xfrm>
            <a:off x="7436815" y="1627632"/>
            <a:ext cx="3931920" cy="676656"/>
          </a:xfrm>
          <a:prstGeom prst="rect">
            <a:avLst/>
          </a:prstGeom>
          <a:noFill/>
          <a:ln/>
        </p:spPr>
        <p:txBody>
          <a:bodyPr wrap="square" lIns="0" tIns="0" rIns="0" bIns="0" rtlCol="0" anchor="ctr"/>
          <a:lstStyle/>
          <a:p>
            <a:pPr marL="0" indent="0">
              <a:buNone/>
            </a:pPr>
            <a:r>
              <a:rPr lang="en-US" sz="2400" b="1" dirty="0">
                <a:solidFill>
                  <a:srgbClr val="0F2A43"/>
                </a:solidFill>
                <a:latin typeface="Cambria" pitchFamily="34" charset="0"/>
                <a:ea typeface="Cambria" pitchFamily="34" charset="-122"/>
                <a:cs typeface="Cambria" pitchFamily="34" charset="-120"/>
              </a:rPr>
              <a:t>Gains</a:t>
            </a:r>
            <a:endParaRPr lang="en-US" sz="2400" dirty="0"/>
          </a:p>
          <a:p>
            <a:pPr marL="0" indent="0">
              <a:buNone/>
            </a:pPr>
            <a:r>
              <a:rPr lang="en-US" sz="1300" dirty="0">
                <a:solidFill>
                  <a:srgbClr val="5B6B82"/>
                </a:solidFill>
                <a:latin typeface="Calibri" pitchFamily="34" charset="0"/>
                <a:ea typeface="Calibri" pitchFamily="34" charset="-122"/>
                <a:cs typeface="Calibri" pitchFamily="34" charset="-120"/>
              </a:rPr>
              <a:t>What success looks like</a:t>
            </a:r>
            <a:endParaRPr lang="en-US" sz="2400" dirty="0"/>
          </a:p>
        </p:txBody>
      </p:sp>
      <p:sp>
        <p:nvSpPr>
          <p:cNvPr id="29" name="Shape 19"/>
          <p:cNvSpPr/>
          <p:nvPr/>
        </p:nvSpPr>
        <p:spPr>
          <a:xfrm>
            <a:off x="6613855" y="2688336"/>
            <a:ext cx="310896" cy="310896"/>
          </a:xfrm>
          <a:prstGeom prst="hexagon">
            <a:avLst/>
          </a:prstGeom>
          <a:solidFill>
            <a:srgbClr val="15803D"/>
          </a:solidFill>
          <a:ln w="6350">
            <a:solidFill>
              <a:srgbClr val="15803D"/>
            </a:solidFill>
            <a:prstDash val="solid"/>
          </a:ln>
        </p:spPr>
      </p:sp>
      <p:pic>
        <p:nvPicPr>
          <p:cNvPr id="30" name="Image 8" descr="preencoded.png"/>
          <p:cNvPicPr>
            <a:picLocks noChangeAspect="1"/>
          </p:cNvPicPr>
          <p:nvPr/>
        </p:nvPicPr>
        <p:blipFill>
          <a:blip r:embed="rId6"/>
          <a:stretch>
            <a:fillRect/>
          </a:stretch>
        </p:blipFill>
        <p:spPr>
          <a:xfrm>
            <a:off x="6696151" y="2770632"/>
            <a:ext cx="146304" cy="146304"/>
          </a:xfrm>
          <a:prstGeom prst="rect">
            <a:avLst/>
          </a:prstGeom>
        </p:spPr>
      </p:pic>
      <p:sp>
        <p:nvSpPr>
          <p:cNvPr id="31" name="Text 20"/>
          <p:cNvSpPr txBox="1"/>
          <p:nvPr/>
        </p:nvSpPr>
        <p:spPr>
          <a:xfrm>
            <a:off x="7116775" y="2606040"/>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Fast, on-time delivery; food arrives hot</a:t>
            </a:r>
            <a:endParaRPr lang="en-US" sz="1500" dirty="0"/>
          </a:p>
        </p:txBody>
      </p:sp>
      <p:sp>
        <p:nvSpPr>
          <p:cNvPr id="32" name="Shape 21"/>
          <p:cNvSpPr/>
          <p:nvPr/>
        </p:nvSpPr>
        <p:spPr>
          <a:xfrm>
            <a:off x="6613855" y="3255264"/>
            <a:ext cx="310896" cy="310896"/>
          </a:xfrm>
          <a:prstGeom prst="hexagon">
            <a:avLst/>
          </a:prstGeom>
          <a:solidFill>
            <a:srgbClr val="15803D"/>
          </a:solidFill>
          <a:ln w="6350">
            <a:solidFill>
              <a:srgbClr val="15803D"/>
            </a:solidFill>
            <a:prstDash val="solid"/>
          </a:ln>
        </p:spPr>
      </p:sp>
      <p:pic>
        <p:nvPicPr>
          <p:cNvPr id="33" name="Image 9" descr="preencoded.png"/>
          <p:cNvPicPr>
            <a:picLocks noChangeAspect="1"/>
          </p:cNvPicPr>
          <p:nvPr/>
        </p:nvPicPr>
        <p:blipFill>
          <a:blip r:embed="rId6"/>
          <a:stretch>
            <a:fillRect/>
          </a:stretch>
        </p:blipFill>
        <p:spPr>
          <a:xfrm>
            <a:off x="6696151" y="3337560"/>
            <a:ext cx="146304" cy="146304"/>
          </a:xfrm>
          <a:prstGeom prst="rect">
            <a:avLst/>
          </a:prstGeom>
        </p:spPr>
      </p:pic>
      <p:sp>
        <p:nvSpPr>
          <p:cNvPr id="34" name="Text 22"/>
          <p:cNvSpPr txBox="1"/>
          <p:nvPr/>
        </p:nvSpPr>
        <p:spPr>
          <a:xfrm>
            <a:off x="7116775" y="3172968"/>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Clear, all-in pricing before checkout</a:t>
            </a:r>
            <a:endParaRPr lang="en-US" sz="1500" dirty="0"/>
          </a:p>
        </p:txBody>
      </p:sp>
      <p:sp>
        <p:nvSpPr>
          <p:cNvPr id="35" name="Shape 23"/>
          <p:cNvSpPr/>
          <p:nvPr/>
        </p:nvSpPr>
        <p:spPr>
          <a:xfrm>
            <a:off x="6613855" y="3822192"/>
            <a:ext cx="310896" cy="310896"/>
          </a:xfrm>
          <a:prstGeom prst="hexagon">
            <a:avLst/>
          </a:prstGeom>
          <a:solidFill>
            <a:srgbClr val="15803D"/>
          </a:solidFill>
          <a:ln w="6350">
            <a:solidFill>
              <a:srgbClr val="15803D"/>
            </a:solidFill>
            <a:prstDash val="solid"/>
          </a:ln>
        </p:spPr>
      </p:sp>
      <p:pic>
        <p:nvPicPr>
          <p:cNvPr id="36" name="Image 10" descr="preencoded.png"/>
          <p:cNvPicPr>
            <a:picLocks noChangeAspect="1"/>
          </p:cNvPicPr>
          <p:nvPr/>
        </p:nvPicPr>
        <p:blipFill>
          <a:blip r:embed="rId6"/>
          <a:stretch>
            <a:fillRect/>
          </a:stretch>
        </p:blipFill>
        <p:spPr>
          <a:xfrm>
            <a:off x="6696151" y="3904488"/>
            <a:ext cx="146304" cy="146304"/>
          </a:xfrm>
          <a:prstGeom prst="rect">
            <a:avLst/>
          </a:prstGeom>
        </p:spPr>
      </p:pic>
      <p:sp>
        <p:nvSpPr>
          <p:cNvPr id="37" name="Text 24"/>
          <p:cNvSpPr txBox="1"/>
          <p:nvPr/>
        </p:nvSpPr>
        <p:spPr>
          <a:xfrm>
            <a:off x="7116775" y="3739896"/>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Accurate live tracking and delay alerts</a:t>
            </a:r>
            <a:endParaRPr lang="en-US" sz="1500" dirty="0"/>
          </a:p>
        </p:txBody>
      </p:sp>
      <p:sp>
        <p:nvSpPr>
          <p:cNvPr id="38" name="Shape 25"/>
          <p:cNvSpPr/>
          <p:nvPr/>
        </p:nvSpPr>
        <p:spPr>
          <a:xfrm>
            <a:off x="6613855" y="4389120"/>
            <a:ext cx="310896" cy="310896"/>
          </a:xfrm>
          <a:prstGeom prst="hexagon">
            <a:avLst/>
          </a:prstGeom>
          <a:solidFill>
            <a:srgbClr val="15803D"/>
          </a:solidFill>
          <a:ln w="6350">
            <a:solidFill>
              <a:srgbClr val="15803D"/>
            </a:solidFill>
            <a:prstDash val="solid"/>
          </a:ln>
        </p:spPr>
      </p:sp>
      <p:pic>
        <p:nvPicPr>
          <p:cNvPr id="39" name="Image 11" descr="preencoded.png"/>
          <p:cNvPicPr>
            <a:picLocks noChangeAspect="1"/>
          </p:cNvPicPr>
          <p:nvPr/>
        </p:nvPicPr>
        <p:blipFill>
          <a:blip r:embed="rId6"/>
          <a:stretch>
            <a:fillRect/>
          </a:stretch>
        </p:blipFill>
        <p:spPr>
          <a:xfrm>
            <a:off x="6696151" y="4471416"/>
            <a:ext cx="146304" cy="146304"/>
          </a:xfrm>
          <a:prstGeom prst="rect">
            <a:avLst/>
          </a:prstGeom>
        </p:spPr>
      </p:pic>
      <p:sp>
        <p:nvSpPr>
          <p:cNvPr id="40" name="Text 26"/>
          <p:cNvSpPr txBox="1"/>
          <p:nvPr/>
        </p:nvSpPr>
        <p:spPr>
          <a:xfrm>
            <a:off x="7116775" y="4306824"/>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Two-tap reorder from Order Again</a:t>
            </a:r>
            <a:endParaRPr lang="en-US" sz="1500" dirty="0"/>
          </a:p>
        </p:txBody>
      </p:sp>
      <p:sp>
        <p:nvSpPr>
          <p:cNvPr id="41" name="Shape 27"/>
          <p:cNvSpPr/>
          <p:nvPr/>
        </p:nvSpPr>
        <p:spPr>
          <a:xfrm>
            <a:off x="6613855" y="4956048"/>
            <a:ext cx="310896" cy="310896"/>
          </a:xfrm>
          <a:prstGeom prst="hexagon">
            <a:avLst/>
          </a:prstGeom>
          <a:solidFill>
            <a:srgbClr val="15803D"/>
          </a:solidFill>
          <a:ln w="6350">
            <a:solidFill>
              <a:srgbClr val="15803D"/>
            </a:solidFill>
            <a:prstDash val="solid"/>
          </a:ln>
        </p:spPr>
      </p:sp>
      <p:pic>
        <p:nvPicPr>
          <p:cNvPr id="42" name="Image 12" descr="preencoded.png"/>
          <p:cNvPicPr>
            <a:picLocks noChangeAspect="1"/>
          </p:cNvPicPr>
          <p:nvPr/>
        </p:nvPicPr>
        <p:blipFill>
          <a:blip r:embed="rId6"/>
          <a:stretch>
            <a:fillRect/>
          </a:stretch>
        </p:blipFill>
        <p:spPr>
          <a:xfrm>
            <a:off x="6696151" y="5038344"/>
            <a:ext cx="146304" cy="146304"/>
          </a:xfrm>
          <a:prstGeom prst="rect">
            <a:avLst/>
          </a:prstGeom>
        </p:spPr>
      </p:pic>
      <p:sp>
        <p:nvSpPr>
          <p:cNvPr id="43" name="Text 28"/>
          <p:cNvSpPr txBox="1"/>
          <p:nvPr/>
        </p:nvSpPr>
        <p:spPr>
          <a:xfrm>
            <a:off x="7116775" y="4873752"/>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Instant refunds to Swiggy Money</a:t>
            </a:r>
            <a:endParaRPr lang="en-US" sz="1500" dirty="0"/>
          </a:p>
        </p:txBody>
      </p:sp>
      <p:sp>
        <p:nvSpPr>
          <p:cNvPr id="44" name="Shape 29"/>
          <p:cNvSpPr/>
          <p:nvPr/>
        </p:nvSpPr>
        <p:spPr>
          <a:xfrm>
            <a:off x="6613855" y="5522976"/>
            <a:ext cx="310896" cy="310896"/>
          </a:xfrm>
          <a:prstGeom prst="hexagon">
            <a:avLst/>
          </a:prstGeom>
          <a:solidFill>
            <a:srgbClr val="15803D"/>
          </a:solidFill>
          <a:ln w="6350">
            <a:solidFill>
              <a:srgbClr val="15803D"/>
            </a:solidFill>
            <a:prstDash val="solid"/>
          </a:ln>
        </p:spPr>
      </p:sp>
      <p:pic>
        <p:nvPicPr>
          <p:cNvPr id="45" name="Image 13" descr="preencoded.png"/>
          <p:cNvPicPr>
            <a:picLocks noChangeAspect="1"/>
          </p:cNvPicPr>
          <p:nvPr/>
        </p:nvPicPr>
        <p:blipFill>
          <a:blip r:embed="rId6"/>
          <a:stretch>
            <a:fillRect/>
          </a:stretch>
        </p:blipFill>
        <p:spPr>
          <a:xfrm>
            <a:off x="6696151" y="5605272"/>
            <a:ext cx="146304" cy="146304"/>
          </a:xfrm>
          <a:prstGeom prst="rect">
            <a:avLst/>
          </a:prstGeom>
        </p:spPr>
      </p:pic>
      <p:sp>
        <p:nvSpPr>
          <p:cNvPr id="46" name="Text 30"/>
          <p:cNvSpPr txBox="1"/>
          <p:nvPr/>
        </p:nvSpPr>
        <p:spPr>
          <a:xfrm>
            <a:off x="7116775" y="5440680"/>
            <a:ext cx="4206240" cy="475488"/>
          </a:xfrm>
          <a:prstGeom prst="rect">
            <a:avLst/>
          </a:prstGeom>
          <a:noFill/>
          <a:ln/>
        </p:spPr>
        <p:txBody>
          <a:bodyPr wrap="square" lIns="0" tIns="0" rIns="0" bIns="0" rtlCol="0" anchor="ctr"/>
          <a:lstStyle/>
          <a:p>
            <a:pPr marL="0" indent="0">
              <a:buNone/>
            </a:pPr>
            <a:r>
              <a:rPr lang="en-US" sz="1500" dirty="0">
                <a:solidFill>
                  <a:srgbClr val="0F2A43"/>
                </a:solidFill>
                <a:latin typeface="Calibri" pitchFamily="34" charset="0"/>
                <a:ea typeface="Calibri" pitchFamily="34" charset="-122"/>
                <a:cs typeface="Calibri" pitchFamily="34" charset="-120"/>
              </a:rPr>
              <a:t>Swiggy One rewards worth having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What Fiya needs from Swiggy</a:t>
            </a:r>
            <a:endParaRPr lang="en-US" sz="3400" u="sng" dirty="0"/>
          </a:p>
        </p:txBody>
      </p:sp>
      <p:sp>
        <p:nvSpPr>
          <p:cNvPr id="3" name="Shape 1"/>
          <p:cNvSpPr/>
          <p:nvPr/>
        </p:nvSpPr>
        <p:spPr>
          <a:xfrm>
            <a:off x="548640" y="134874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4" name="Shape 2"/>
          <p:cNvSpPr/>
          <p:nvPr/>
        </p:nvSpPr>
        <p:spPr>
          <a:xfrm>
            <a:off x="822960" y="1645920"/>
            <a:ext cx="640080" cy="640080"/>
          </a:xfrm>
          <a:prstGeom prst="hexagon">
            <a:avLst/>
          </a:prstGeom>
          <a:solidFill>
            <a:srgbClr val="0F2A43"/>
          </a:solidFill>
          <a:ln w="6350">
            <a:solidFill>
              <a:srgbClr val="0F2A43"/>
            </a:solidFill>
            <a:prstDash val="solid"/>
          </a:ln>
        </p:spPr>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4592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Speed and reliability</a:t>
            </a:r>
            <a:endParaRPr lang="en-US" sz="1800" dirty="0"/>
          </a:p>
        </p:txBody>
      </p:sp>
      <p:sp>
        <p:nvSpPr>
          <p:cNvPr id="7" name="Text 4"/>
          <p:cNvSpPr txBox="1"/>
          <p:nvPr/>
        </p:nvSpPr>
        <p:spPr>
          <a:xfrm>
            <a:off x="822960" y="251460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Swiggy to deliver on time, hot, and exactly as ordered.</a:t>
            </a:r>
            <a:endParaRPr lang="en-US" sz="1600" dirty="0"/>
          </a:p>
        </p:txBody>
      </p:sp>
      <p:sp>
        <p:nvSpPr>
          <p:cNvPr id="8" name="Shape 5"/>
          <p:cNvSpPr/>
          <p:nvPr/>
        </p:nvSpPr>
        <p:spPr>
          <a:xfrm>
            <a:off x="4337914" y="137160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9" name="Shape 6"/>
          <p:cNvSpPr/>
          <p:nvPr/>
        </p:nvSpPr>
        <p:spPr>
          <a:xfrm>
            <a:off x="4612234" y="1645920"/>
            <a:ext cx="640080" cy="640080"/>
          </a:xfrm>
          <a:prstGeom prst="hexagon">
            <a:avLst/>
          </a:prstGeom>
          <a:solidFill>
            <a:srgbClr val="0F2A43"/>
          </a:solidFill>
          <a:ln w="6350">
            <a:solidFill>
              <a:srgbClr val="0F2A43"/>
            </a:solidFill>
            <a:prstDash val="solid"/>
          </a:ln>
        </p:spPr>
      </p:sp>
      <p:pic>
        <p:nvPicPr>
          <p:cNvPr id="10" name="Image 1" descr="preencoded.png"/>
          <p:cNvPicPr>
            <a:picLocks noChangeAspect="1"/>
          </p:cNvPicPr>
          <p:nvPr/>
        </p:nvPicPr>
        <p:blipFill>
          <a:blip r:embed="rId4"/>
          <a:stretch>
            <a:fillRect/>
          </a:stretch>
        </p:blipFill>
        <p:spPr>
          <a:xfrm>
            <a:off x="4772254" y="1805940"/>
            <a:ext cx="320040" cy="320040"/>
          </a:xfrm>
          <a:prstGeom prst="rect">
            <a:avLst/>
          </a:prstGeom>
        </p:spPr>
      </p:pic>
      <p:sp>
        <p:nvSpPr>
          <p:cNvPr id="11" name="Text 7"/>
          <p:cNvSpPr txBox="1"/>
          <p:nvPr/>
        </p:nvSpPr>
        <p:spPr>
          <a:xfrm>
            <a:off x="5435194" y="164592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Price transparency</a:t>
            </a:r>
            <a:endParaRPr lang="en-US" sz="1800" dirty="0"/>
          </a:p>
        </p:txBody>
      </p:sp>
      <p:sp>
        <p:nvSpPr>
          <p:cNvPr id="12" name="Text 8"/>
          <p:cNvSpPr txBox="1"/>
          <p:nvPr/>
        </p:nvSpPr>
        <p:spPr>
          <a:xfrm>
            <a:off x="4612234" y="251460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the full cost, including platform fee, taxes and tip, upfront.</a:t>
            </a:r>
            <a:endParaRPr lang="en-US" sz="1600" dirty="0"/>
          </a:p>
        </p:txBody>
      </p:sp>
      <p:sp>
        <p:nvSpPr>
          <p:cNvPr id="13" name="Shape 9"/>
          <p:cNvSpPr/>
          <p:nvPr/>
        </p:nvSpPr>
        <p:spPr>
          <a:xfrm>
            <a:off x="8127187" y="137160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14" name="Shape 10"/>
          <p:cNvSpPr/>
          <p:nvPr/>
        </p:nvSpPr>
        <p:spPr>
          <a:xfrm>
            <a:off x="8401507" y="1645920"/>
            <a:ext cx="640080" cy="640080"/>
          </a:xfrm>
          <a:prstGeom prst="hexagon">
            <a:avLst/>
          </a:prstGeom>
          <a:solidFill>
            <a:srgbClr val="0F2A43"/>
          </a:solidFill>
          <a:ln w="6350">
            <a:solidFill>
              <a:srgbClr val="0F2A43"/>
            </a:solidFill>
            <a:prstDash val="solid"/>
          </a:ln>
        </p:spPr>
      </p:sp>
      <p:pic>
        <p:nvPicPr>
          <p:cNvPr id="15" name="Image 2" descr="preencoded.png"/>
          <p:cNvPicPr>
            <a:picLocks noChangeAspect="1"/>
          </p:cNvPicPr>
          <p:nvPr/>
        </p:nvPicPr>
        <p:blipFill>
          <a:blip r:embed="rId5"/>
          <a:stretch>
            <a:fillRect/>
          </a:stretch>
        </p:blipFill>
        <p:spPr>
          <a:xfrm>
            <a:off x="8561527" y="1805940"/>
            <a:ext cx="320040" cy="320040"/>
          </a:xfrm>
          <a:prstGeom prst="rect">
            <a:avLst/>
          </a:prstGeom>
        </p:spPr>
      </p:pic>
      <p:sp>
        <p:nvSpPr>
          <p:cNvPr id="16" name="Text 11"/>
          <p:cNvSpPr txBox="1"/>
          <p:nvPr/>
        </p:nvSpPr>
        <p:spPr>
          <a:xfrm>
            <a:off x="9224467" y="164592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Accurate live info</a:t>
            </a:r>
            <a:endParaRPr lang="en-US" sz="1800" dirty="0"/>
          </a:p>
        </p:txBody>
      </p:sp>
      <p:sp>
        <p:nvSpPr>
          <p:cNvPr id="17" name="Text 12"/>
          <p:cNvSpPr txBox="1"/>
          <p:nvPr/>
        </p:nvSpPr>
        <p:spPr>
          <a:xfrm>
            <a:off x="8401507" y="251460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realistic ETAs, live rider tracking and an alert when a delay hits.</a:t>
            </a:r>
            <a:endParaRPr lang="en-US" sz="1600" dirty="0"/>
          </a:p>
        </p:txBody>
      </p:sp>
      <p:sp>
        <p:nvSpPr>
          <p:cNvPr id="18" name="Shape 13"/>
          <p:cNvSpPr/>
          <p:nvPr/>
        </p:nvSpPr>
        <p:spPr>
          <a:xfrm>
            <a:off x="548640" y="397764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19" name="Shape 14"/>
          <p:cNvSpPr/>
          <p:nvPr/>
        </p:nvSpPr>
        <p:spPr>
          <a:xfrm>
            <a:off x="822960" y="4251960"/>
            <a:ext cx="640080" cy="640080"/>
          </a:xfrm>
          <a:prstGeom prst="hexagon">
            <a:avLst/>
          </a:prstGeom>
          <a:solidFill>
            <a:srgbClr val="0F2A43"/>
          </a:solidFill>
          <a:ln w="6350">
            <a:solidFill>
              <a:srgbClr val="0F2A43"/>
            </a:solidFill>
            <a:prstDash val="solid"/>
          </a:ln>
        </p:spPr>
      </p:sp>
      <p:pic>
        <p:nvPicPr>
          <p:cNvPr id="20" name="Image 3" descr="preencoded.png"/>
          <p:cNvPicPr>
            <a:picLocks noChangeAspect="1"/>
          </p:cNvPicPr>
          <p:nvPr/>
        </p:nvPicPr>
        <p:blipFill>
          <a:blip r:embed="rId6"/>
          <a:stretch>
            <a:fillRect/>
          </a:stretch>
        </p:blipFill>
        <p:spPr>
          <a:xfrm>
            <a:off x="982980" y="4411980"/>
            <a:ext cx="320040" cy="320040"/>
          </a:xfrm>
          <a:prstGeom prst="rect">
            <a:avLst/>
          </a:prstGeom>
        </p:spPr>
      </p:pic>
      <p:sp>
        <p:nvSpPr>
          <p:cNvPr id="21" name="Text 15"/>
          <p:cNvSpPr txBox="1"/>
          <p:nvPr/>
        </p:nvSpPr>
        <p:spPr>
          <a:xfrm>
            <a:off x="1645920" y="425196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Effortless ordering</a:t>
            </a:r>
            <a:endParaRPr lang="en-US" sz="1800" dirty="0"/>
          </a:p>
        </p:txBody>
      </p:sp>
      <p:sp>
        <p:nvSpPr>
          <p:cNvPr id="22" name="Text 16"/>
          <p:cNvSpPr txBox="1"/>
          <p:nvPr/>
        </p:nvSpPr>
        <p:spPr>
          <a:xfrm>
            <a:off x="822960" y="512064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two-tap reorder across food, Instamart and Genie.</a:t>
            </a:r>
            <a:endParaRPr lang="en-US" sz="1600" dirty="0"/>
          </a:p>
        </p:txBody>
      </p:sp>
      <p:sp>
        <p:nvSpPr>
          <p:cNvPr id="23" name="Shape 17"/>
          <p:cNvSpPr/>
          <p:nvPr/>
        </p:nvSpPr>
        <p:spPr>
          <a:xfrm>
            <a:off x="4337914" y="397764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24" name="Shape 18"/>
          <p:cNvSpPr/>
          <p:nvPr/>
        </p:nvSpPr>
        <p:spPr>
          <a:xfrm>
            <a:off x="4612234" y="4251960"/>
            <a:ext cx="640080" cy="640080"/>
          </a:xfrm>
          <a:prstGeom prst="hexagon">
            <a:avLst/>
          </a:prstGeom>
          <a:solidFill>
            <a:srgbClr val="0F2A43"/>
          </a:solidFill>
          <a:ln w="6350">
            <a:solidFill>
              <a:srgbClr val="0F2A43"/>
            </a:solidFill>
            <a:prstDash val="solid"/>
          </a:ln>
        </p:spPr>
      </p:sp>
      <p:pic>
        <p:nvPicPr>
          <p:cNvPr id="25" name="Image 4" descr="preencoded.png"/>
          <p:cNvPicPr>
            <a:picLocks noChangeAspect="1"/>
          </p:cNvPicPr>
          <p:nvPr/>
        </p:nvPicPr>
        <p:blipFill>
          <a:blip r:embed="rId7"/>
          <a:stretch>
            <a:fillRect/>
          </a:stretch>
        </p:blipFill>
        <p:spPr>
          <a:xfrm>
            <a:off x="4772254" y="4411980"/>
            <a:ext cx="320040" cy="320040"/>
          </a:xfrm>
          <a:prstGeom prst="rect">
            <a:avLst/>
          </a:prstGeom>
        </p:spPr>
      </p:pic>
      <p:sp>
        <p:nvSpPr>
          <p:cNvPr id="26" name="Text 19"/>
          <p:cNvSpPr txBox="1"/>
          <p:nvPr/>
        </p:nvSpPr>
        <p:spPr>
          <a:xfrm>
            <a:off x="5435194" y="425196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Choice and control</a:t>
            </a:r>
            <a:endParaRPr lang="en-US" sz="1800" dirty="0"/>
          </a:p>
        </p:txBody>
      </p:sp>
      <p:sp>
        <p:nvSpPr>
          <p:cNvPr id="27" name="Text 20"/>
          <p:cNvSpPr txBox="1"/>
          <p:nvPr/>
        </p:nvSpPr>
        <p:spPr>
          <a:xfrm>
            <a:off x="4612234" y="512064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relevant restaurants, veg-only filters and easy customisation.</a:t>
            </a:r>
            <a:endParaRPr lang="en-US" sz="1600" dirty="0"/>
          </a:p>
        </p:txBody>
      </p:sp>
      <p:sp>
        <p:nvSpPr>
          <p:cNvPr id="28" name="Shape 21"/>
          <p:cNvSpPr/>
          <p:nvPr/>
        </p:nvSpPr>
        <p:spPr>
          <a:xfrm>
            <a:off x="8127187" y="3977640"/>
            <a:ext cx="3514954" cy="2331720"/>
          </a:xfrm>
          <a:prstGeom prst="snip2DiagRect">
            <a:avLst>
              <a:gd name="adj1" fmla="val 0"/>
              <a:gd name="adj2" fmla="val 14000"/>
            </a:avLst>
          </a:prstGeom>
          <a:solidFill>
            <a:srgbClr val="EEF3FB"/>
          </a:solidFill>
          <a:ln w="6350">
            <a:solidFill>
              <a:srgbClr val="EEF3FB"/>
            </a:solidFill>
            <a:prstDash val="solid"/>
          </a:ln>
        </p:spPr>
      </p:sp>
      <p:sp>
        <p:nvSpPr>
          <p:cNvPr id="29" name="Shape 22"/>
          <p:cNvSpPr/>
          <p:nvPr/>
        </p:nvSpPr>
        <p:spPr>
          <a:xfrm>
            <a:off x="8401507" y="4251960"/>
            <a:ext cx="640080" cy="640080"/>
          </a:xfrm>
          <a:prstGeom prst="hexagon">
            <a:avLst/>
          </a:prstGeom>
          <a:solidFill>
            <a:srgbClr val="0F2A43"/>
          </a:solidFill>
          <a:ln w="6350">
            <a:solidFill>
              <a:srgbClr val="0F2A43"/>
            </a:solidFill>
            <a:prstDash val="solid"/>
          </a:ln>
        </p:spPr>
      </p:sp>
      <p:pic>
        <p:nvPicPr>
          <p:cNvPr id="30" name="Image 5" descr="preencoded.png"/>
          <p:cNvPicPr>
            <a:picLocks noChangeAspect="1"/>
          </p:cNvPicPr>
          <p:nvPr/>
        </p:nvPicPr>
        <p:blipFill>
          <a:blip r:embed="rId8"/>
          <a:stretch>
            <a:fillRect/>
          </a:stretch>
        </p:blipFill>
        <p:spPr>
          <a:xfrm>
            <a:off x="8561527" y="4411980"/>
            <a:ext cx="320040" cy="320040"/>
          </a:xfrm>
          <a:prstGeom prst="rect">
            <a:avLst/>
          </a:prstGeom>
        </p:spPr>
      </p:pic>
      <p:sp>
        <p:nvSpPr>
          <p:cNvPr id="31" name="Text 23"/>
          <p:cNvSpPr txBox="1"/>
          <p:nvPr/>
        </p:nvSpPr>
        <p:spPr>
          <a:xfrm>
            <a:off x="9224467" y="4251960"/>
            <a:ext cx="2234794" cy="640080"/>
          </a:xfrm>
          <a:prstGeom prst="rect">
            <a:avLst/>
          </a:prstGeom>
          <a:noFill/>
          <a:ln/>
        </p:spPr>
        <p:txBody>
          <a:bodyPr wrap="square" lIns="0" tIns="0" rIns="0" bIns="0" rtlCol="0" anchor="ctr"/>
          <a:lstStyle/>
          <a:p>
            <a:pPr marL="0" indent="0">
              <a:buNone/>
            </a:pPr>
            <a:r>
              <a:rPr lang="en-US" sz="1800" b="1" dirty="0">
                <a:solidFill>
                  <a:srgbClr val="0F2A43"/>
                </a:solidFill>
                <a:latin typeface="Cambria" pitchFamily="34" charset="0"/>
                <a:ea typeface="Cambria" pitchFamily="34" charset="-122"/>
                <a:cs typeface="Cambria" pitchFamily="34" charset="-120"/>
              </a:rPr>
              <a:t>Trust and support</a:t>
            </a:r>
            <a:endParaRPr lang="en-US" sz="1800" dirty="0"/>
          </a:p>
        </p:txBody>
      </p:sp>
      <p:sp>
        <p:nvSpPr>
          <p:cNvPr id="32" name="Text 24"/>
          <p:cNvSpPr txBox="1"/>
          <p:nvPr/>
        </p:nvSpPr>
        <p:spPr>
          <a:xfrm>
            <a:off x="8401507" y="5120640"/>
            <a:ext cx="2966314" cy="1005840"/>
          </a:xfrm>
          <a:prstGeom prst="rect">
            <a:avLst/>
          </a:prstGeom>
          <a:noFill/>
          <a:ln/>
        </p:spPr>
        <p:txBody>
          <a:bodyPr wrap="square" lIns="0" tIns="0" rIns="0" bIns="0" rtlCol="0" anchor="t"/>
          <a:lstStyle/>
          <a:p>
            <a:pPr marL="0" indent="0">
              <a:buNone/>
            </a:pPr>
            <a:r>
              <a:rPr lang="en-US" sz="1600" b="1" dirty="0">
                <a:solidFill>
                  <a:srgbClr val="2F6BFF"/>
                </a:solidFill>
                <a:latin typeface="Calibri" pitchFamily="34" charset="0"/>
                <a:ea typeface="Calibri" pitchFamily="34" charset="-122"/>
                <a:cs typeface="Calibri" pitchFamily="34" charset="-120"/>
              </a:rPr>
              <a:t>Fiya needs </a:t>
            </a:r>
            <a:r>
              <a:rPr lang="en-US" sz="1600" dirty="0">
                <a:solidFill>
                  <a:srgbClr val="0F2A43"/>
                </a:solidFill>
                <a:latin typeface="Calibri" pitchFamily="34" charset="0"/>
                <a:ea typeface="Calibri" pitchFamily="34" charset="-122"/>
                <a:cs typeface="Calibri" pitchFamily="34" charset="-120"/>
              </a:rPr>
              <a:t>safe food, secure UPI payments and quick, human help.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Frustrations pile up across the journey</a:t>
            </a:r>
            <a:endParaRPr lang="en-US" sz="3400" u="sng" dirty="0"/>
          </a:p>
        </p:txBody>
      </p:sp>
      <p:sp>
        <p:nvSpPr>
          <p:cNvPr id="3" name="Shape 1"/>
          <p:cNvSpPr/>
          <p:nvPr/>
        </p:nvSpPr>
        <p:spPr>
          <a:xfrm>
            <a:off x="1566642" y="1783080"/>
            <a:ext cx="9058412" cy="0"/>
          </a:xfrm>
          <a:prstGeom prst="line">
            <a:avLst/>
          </a:prstGeom>
          <a:noFill/>
          <a:ln w="31750">
            <a:solidFill>
              <a:srgbClr val="C5D3E8"/>
            </a:solidFill>
            <a:prstDash val="solid"/>
          </a:ln>
        </p:spPr>
      </p:sp>
      <p:sp>
        <p:nvSpPr>
          <p:cNvPr id="4" name="Shape 2"/>
          <p:cNvSpPr/>
          <p:nvPr/>
        </p:nvSpPr>
        <p:spPr>
          <a:xfrm>
            <a:off x="1155162" y="1371600"/>
            <a:ext cx="822960" cy="822960"/>
          </a:xfrm>
          <a:prstGeom prst="hexagon">
            <a:avLst/>
          </a:prstGeom>
          <a:solidFill>
            <a:srgbClr val="0F2A43"/>
          </a:solidFill>
          <a:ln w="6350">
            <a:solidFill>
              <a:srgbClr val="0F2A43"/>
            </a:solidFill>
            <a:prstDash val="solid"/>
          </a:ln>
        </p:spPr>
      </p:sp>
      <p:pic>
        <p:nvPicPr>
          <p:cNvPr id="5" name="Image 0" descr="preencoded.png"/>
          <p:cNvPicPr>
            <a:picLocks noChangeAspect="1"/>
          </p:cNvPicPr>
          <p:nvPr/>
        </p:nvPicPr>
        <p:blipFill>
          <a:blip r:embed="rId3"/>
          <a:stretch>
            <a:fillRect/>
          </a:stretch>
        </p:blipFill>
        <p:spPr>
          <a:xfrm>
            <a:off x="1360902" y="1577340"/>
            <a:ext cx="411480" cy="411480"/>
          </a:xfrm>
          <a:prstGeom prst="rect">
            <a:avLst/>
          </a:prstGeom>
        </p:spPr>
      </p:pic>
      <p:sp>
        <p:nvSpPr>
          <p:cNvPr id="6" name="Text 3"/>
          <p:cNvSpPr txBox="1"/>
          <p:nvPr/>
        </p:nvSpPr>
        <p:spPr>
          <a:xfrm>
            <a:off x="548640" y="2331720"/>
            <a:ext cx="2036003" cy="365760"/>
          </a:xfrm>
          <a:prstGeom prst="rect">
            <a:avLst/>
          </a:prstGeom>
          <a:noFill/>
          <a:ln/>
        </p:spPr>
        <p:txBody>
          <a:bodyPr wrap="square" lIns="0" tIns="0" rIns="0" bIns="0" rtlCol="0" anchor="ctr"/>
          <a:lstStyle/>
          <a:p>
            <a:pPr marL="0" indent="0" algn="ctr">
              <a:buNone/>
            </a:pPr>
            <a:r>
              <a:rPr lang="en-US" sz="1800" b="1" dirty="0">
                <a:solidFill>
                  <a:srgbClr val="0F2A43"/>
                </a:solidFill>
                <a:latin typeface="Cambria" pitchFamily="34" charset="0"/>
                <a:ea typeface="Cambria" pitchFamily="34" charset="-122"/>
                <a:cs typeface="Cambria" pitchFamily="34" charset="-120"/>
              </a:rPr>
              <a:t>Discover</a:t>
            </a:r>
            <a:endParaRPr lang="en-US" sz="1800" dirty="0"/>
          </a:p>
        </p:txBody>
      </p:sp>
      <p:sp>
        <p:nvSpPr>
          <p:cNvPr id="7" name="Shape 4"/>
          <p:cNvSpPr/>
          <p:nvPr/>
        </p:nvSpPr>
        <p:spPr>
          <a:xfrm>
            <a:off x="548640" y="2788920"/>
            <a:ext cx="2036003" cy="2971800"/>
          </a:xfrm>
          <a:prstGeom prst="snip2DiagRect">
            <a:avLst>
              <a:gd name="adj1" fmla="val 0"/>
              <a:gd name="adj2" fmla="val 14000"/>
            </a:avLst>
          </a:prstGeom>
          <a:solidFill>
            <a:srgbClr val="FDE8E8"/>
          </a:solidFill>
          <a:ln w="6350">
            <a:solidFill>
              <a:srgbClr val="FDE8E8"/>
            </a:solidFill>
            <a:prstDash val="solid"/>
          </a:ln>
        </p:spPr>
      </p:sp>
      <p:sp>
        <p:nvSpPr>
          <p:cNvPr id="8" name="Text 5"/>
          <p:cNvSpPr txBox="1"/>
          <p:nvPr/>
        </p:nvSpPr>
        <p:spPr>
          <a:xfrm>
            <a:off x="731520"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Endless scrolling</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Sponsored results bury the best picks</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Sold-out dishes found after adding</a:t>
            </a:r>
            <a:endParaRPr lang="en-US" sz="1400" dirty="0"/>
          </a:p>
        </p:txBody>
      </p:sp>
      <p:sp>
        <p:nvSpPr>
          <p:cNvPr id="9" name="Text 6"/>
          <p:cNvSpPr txBox="1"/>
          <p:nvPr/>
        </p:nvSpPr>
        <p:spPr>
          <a:xfrm>
            <a:off x="731520" y="4937760"/>
            <a:ext cx="1670243" cy="6858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5484D"/>
                </a:solidFill>
                <a:latin typeface="Cambria" pitchFamily="34" charset="0"/>
                <a:ea typeface="Cambria" pitchFamily="34" charset="-122"/>
                <a:cs typeface="Cambria" pitchFamily="34" charset="-120"/>
              </a:rPr>
              <a:t>Overwhelmed</a:t>
            </a:r>
            <a:endParaRPr lang="en-US" sz="1000" dirty="0"/>
          </a:p>
        </p:txBody>
      </p:sp>
      <p:sp>
        <p:nvSpPr>
          <p:cNvPr id="10" name="Shape 7"/>
          <p:cNvSpPr/>
          <p:nvPr/>
        </p:nvSpPr>
        <p:spPr>
          <a:xfrm>
            <a:off x="3419765" y="1371600"/>
            <a:ext cx="822960" cy="822960"/>
          </a:xfrm>
          <a:prstGeom prst="hexagon">
            <a:avLst/>
          </a:prstGeom>
          <a:solidFill>
            <a:srgbClr val="0F2A43"/>
          </a:solidFill>
          <a:ln w="6350">
            <a:solidFill>
              <a:srgbClr val="0F2A43"/>
            </a:solidFill>
            <a:prstDash val="solid"/>
          </a:ln>
        </p:spPr>
      </p:sp>
      <p:pic>
        <p:nvPicPr>
          <p:cNvPr id="11" name="Image 1" descr="preencoded.png"/>
          <p:cNvPicPr>
            <a:picLocks noChangeAspect="1"/>
          </p:cNvPicPr>
          <p:nvPr/>
        </p:nvPicPr>
        <p:blipFill>
          <a:blip r:embed="rId4"/>
          <a:stretch>
            <a:fillRect/>
          </a:stretch>
        </p:blipFill>
        <p:spPr>
          <a:xfrm>
            <a:off x="3625505" y="1577340"/>
            <a:ext cx="411480" cy="411480"/>
          </a:xfrm>
          <a:prstGeom prst="rect">
            <a:avLst/>
          </a:prstGeom>
        </p:spPr>
      </p:pic>
      <p:sp>
        <p:nvSpPr>
          <p:cNvPr id="12" name="Text 8"/>
          <p:cNvSpPr txBox="1"/>
          <p:nvPr/>
        </p:nvSpPr>
        <p:spPr>
          <a:xfrm>
            <a:off x="2813243" y="2331720"/>
            <a:ext cx="2036003" cy="365760"/>
          </a:xfrm>
          <a:prstGeom prst="rect">
            <a:avLst/>
          </a:prstGeom>
          <a:noFill/>
          <a:ln/>
        </p:spPr>
        <p:txBody>
          <a:bodyPr wrap="square" lIns="0" tIns="0" rIns="0" bIns="0" rtlCol="0" anchor="ctr"/>
          <a:lstStyle/>
          <a:p>
            <a:pPr marL="0" indent="0" algn="ctr">
              <a:buNone/>
            </a:pPr>
            <a:r>
              <a:rPr lang="en-US" sz="1800" b="1" dirty="0">
                <a:solidFill>
                  <a:srgbClr val="0F2A43"/>
                </a:solidFill>
                <a:latin typeface="Cambria" pitchFamily="34" charset="0"/>
                <a:ea typeface="Cambria" pitchFamily="34" charset="-122"/>
                <a:cs typeface="Cambria" pitchFamily="34" charset="-120"/>
              </a:rPr>
              <a:t>Order and pay</a:t>
            </a:r>
            <a:endParaRPr lang="en-US" sz="1800" dirty="0"/>
          </a:p>
        </p:txBody>
      </p:sp>
      <p:sp>
        <p:nvSpPr>
          <p:cNvPr id="13" name="Shape 9"/>
          <p:cNvSpPr/>
          <p:nvPr/>
        </p:nvSpPr>
        <p:spPr>
          <a:xfrm>
            <a:off x="2813243" y="2788920"/>
            <a:ext cx="2036003" cy="2971800"/>
          </a:xfrm>
          <a:prstGeom prst="snip2DiagRect">
            <a:avLst>
              <a:gd name="adj1" fmla="val 0"/>
              <a:gd name="adj2" fmla="val 14000"/>
            </a:avLst>
          </a:prstGeom>
          <a:solidFill>
            <a:srgbClr val="FDE8E8"/>
          </a:solidFill>
          <a:ln w="6350">
            <a:solidFill>
              <a:srgbClr val="FDE8E8"/>
            </a:solidFill>
            <a:prstDash val="solid"/>
          </a:ln>
        </p:spPr>
      </p:sp>
      <p:sp>
        <p:nvSpPr>
          <p:cNvPr id="14" name="Text 10"/>
          <p:cNvSpPr txBox="1"/>
          <p:nvPr/>
        </p:nvSpPr>
        <p:spPr>
          <a:xfrm>
            <a:off x="2996123"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Surprise fees at checkout</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Swiggy One or coupon won’t apply</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UPI payment fails at the end</a:t>
            </a:r>
            <a:endParaRPr lang="en-US" sz="1400" dirty="0"/>
          </a:p>
        </p:txBody>
      </p:sp>
      <p:sp>
        <p:nvSpPr>
          <p:cNvPr id="15" name="Text 11"/>
          <p:cNvSpPr txBox="1"/>
          <p:nvPr/>
        </p:nvSpPr>
        <p:spPr>
          <a:xfrm>
            <a:off x="2996123" y="4937760"/>
            <a:ext cx="1670243" cy="6858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5484D"/>
                </a:solidFill>
                <a:latin typeface="Cambria" pitchFamily="34" charset="0"/>
                <a:ea typeface="Cambria" pitchFamily="34" charset="-122"/>
                <a:cs typeface="Cambria" pitchFamily="34" charset="-120"/>
              </a:rPr>
              <a:t>Wary</a:t>
            </a:r>
            <a:endParaRPr lang="en-US" sz="1000" dirty="0"/>
          </a:p>
        </p:txBody>
      </p:sp>
      <p:sp>
        <p:nvSpPr>
          <p:cNvPr id="16" name="Shape 12"/>
          <p:cNvSpPr/>
          <p:nvPr/>
        </p:nvSpPr>
        <p:spPr>
          <a:xfrm>
            <a:off x="5684368" y="1371600"/>
            <a:ext cx="822960" cy="822960"/>
          </a:xfrm>
          <a:prstGeom prst="hexagon">
            <a:avLst/>
          </a:prstGeom>
          <a:solidFill>
            <a:srgbClr val="0F2A43"/>
          </a:solidFill>
          <a:ln w="6350">
            <a:solidFill>
              <a:srgbClr val="0F2A43"/>
            </a:solidFill>
            <a:prstDash val="solid"/>
          </a:ln>
        </p:spPr>
      </p:sp>
      <p:pic>
        <p:nvPicPr>
          <p:cNvPr id="17" name="Image 2" descr="preencoded.png"/>
          <p:cNvPicPr>
            <a:picLocks noChangeAspect="1"/>
          </p:cNvPicPr>
          <p:nvPr/>
        </p:nvPicPr>
        <p:blipFill>
          <a:blip r:embed="rId5"/>
          <a:stretch>
            <a:fillRect/>
          </a:stretch>
        </p:blipFill>
        <p:spPr>
          <a:xfrm>
            <a:off x="5890108" y="1577340"/>
            <a:ext cx="411480" cy="411480"/>
          </a:xfrm>
          <a:prstGeom prst="rect">
            <a:avLst/>
          </a:prstGeom>
        </p:spPr>
      </p:pic>
      <p:sp>
        <p:nvSpPr>
          <p:cNvPr id="18" name="Text 13"/>
          <p:cNvSpPr txBox="1"/>
          <p:nvPr/>
        </p:nvSpPr>
        <p:spPr>
          <a:xfrm>
            <a:off x="5077846" y="2331720"/>
            <a:ext cx="2036003" cy="365760"/>
          </a:xfrm>
          <a:prstGeom prst="rect">
            <a:avLst/>
          </a:prstGeom>
          <a:noFill/>
          <a:ln/>
        </p:spPr>
        <p:txBody>
          <a:bodyPr wrap="square" lIns="0" tIns="0" rIns="0" bIns="0" rtlCol="0" anchor="ctr"/>
          <a:lstStyle/>
          <a:p>
            <a:pPr marL="0" indent="0" algn="ctr">
              <a:buNone/>
            </a:pPr>
            <a:r>
              <a:rPr lang="en-US" sz="1800" b="1" dirty="0">
                <a:solidFill>
                  <a:srgbClr val="0F2A43"/>
                </a:solidFill>
                <a:latin typeface="Cambria" pitchFamily="34" charset="0"/>
                <a:ea typeface="Cambria" pitchFamily="34" charset="-122"/>
                <a:cs typeface="Cambria" pitchFamily="34" charset="-120"/>
              </a:rPr>
              <a:t>Wait</a:t>
            </a:r>
            <a:endParaRPr lang="en-US" sz="1800" dirty="0"/>
          </a:p>
        </p:txBody>
      </p:sp>
      <p:sp>
        <p:nvSpPr>
          <p:cNvPr id="19" name="Shape 14"/>
          <p:cNvSpPr/>
          <p:nvPr/>
        </p:nvSpPr>
        <p:spPr>
          <a:xfrm>
            <a:off x="5077846" y="2788920"/>
            <a:ext cx="2036003" cy="2971800"/>
          </a:xfrm>
          <a:prstGeom prst="snip2DiagRect">
            <a:avLst>
              <a:gd name="adj1" fmla="val 0"/>
              <a:gd name="adj2" fmla="val 14000"/>
            </a:avLst>
          </a:prstGeom>
          <a:solidFill>
            <a:srgbClr val="FDE8E8"/>
          </a:solidFill>
          <a:ln w="6350">
            <a:solidFill>
              <a:srgbClr val="FDE8E8"/>
            </a:solidFill>
            <a:prstDash val="solid"/>
          </a:ln>
        </p:spPr>
      </p:sp>
      <p:sp>
        <p:nvSpPr>
          <p:cNvPr id="20" name="Text 15"/>
          <p:cNvSpPr txBox="1"/>
          <p:nvPr/>
        </p:nvSpPr>
        <p:spPr>
          <a:xfrm>
            <a:off x="5260726"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ETA keeps shifting</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No update when the rider is stuck</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Constant status-checking</a:t>
            </a:r>
            <a:endParaRPr lang="en-US" sz="1400" dirty="0"/>
          </a:p>
        </p:txBody>
      </p:sp>
      <p:sp>
        <p:nvSpPr>
          <p:cNvPr id="21" name="Text 16"/>
          <p:cNvSpPr txBox="1"/>
          <p:nvPr/>
        </p:nvSpPr>
        <p:spPr>
          <a:xfrm>
            <a:off x="5260726" y="4937760"/>
            <a:ext cx="1670243" cy="6858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5484D"/>
                </a:solidFill>
                <a:latin typeface="Cambria" pitchFamily="34" charset="0"/>
                <a:ea typeface="Cambria" pitchFamily="34" charset="-122"/>
                <a:cs typeface="Cambria" pitchFamily="34" charset="-120"/>
              </a:rPr>
              <a:t>Anxious</a:t>
            </a:r>
            <a:endParaRPr lang="en-US" sz="1000" dirty="0"/>
          </a:p>
        </p:txBody>
      </p:sp>
      <p:sp>
        <p:nvSpPr>
          <p:cNvPr id="22" name="Shape 17"/>
          <p:cNvSpPr/>
          <p:nvPr/>
        </p:nvSpPr>
        <p:spPr>
          <a:xfrm>
            <a:off x="7948971" y="1371600"/>
            <a:ext cx="822960" cy="822960"/>
          </a:xfrm>
          <a:prstGeom prst="hexagon">
            <a:avLst/>
          </a:prstGeom>
          <a:solidFill>
            <a:srgbClr val="0F2A43"/>
          </a:solidFill>
          <a:ln w="6350">
            <a:solidFill>
              <a:srgbClr val="0F2A43"/>
            </a:solidFill>
            <a:prstDash val="solid"/>
          </a:ln>
        </p:spPr>
      </p:sp>
      <p:pic>
        <p:nvPicPr>
          <p:cNvPr id="23" name="Image 3" descr="preencoded.png"/>
          <p:cNvPicPr>
            <a:picLocks noChangeAspect="1"/>
          </p:cNvPicPr>
          <p:nvPr/>
        </p:nvPicPr>
        <p:blipFill>
          <a:blip r:embed="rId6"/>
          <a:stretch>
            <a:fillRect/>
          </a:stretch>
        </p:blipFill>
        <p:spPr>
          <a:xfrm>
            <a:off x="8154711" y="1577340"/>
            <a:ext cx="411480" cy="411480"/>
          </a:xfrm>
          <a:prstGeom prst="rect">
            <a:avLst/>
          </a:prstGeom>
        </p:spPr>
      </p:pic>
      <p:sp>
        <p:nvSpPr>
          <p:cNvPr id="24" name="Text 18"/>
          <p:cNvSpPr txBox="1"/>
          <p:nvPr/>
        </p:nvSpPr>
        <p:spPr>
          <a:xfrm>
            <a:off x="7342449" y="2331720"/>
            <a:ext cx="2036003" cy="365760"/>
          </a:xfrm>
          <a:prstGeom prst="rect">
            <a:avLst/>
          </a:prstGeom>
          <a:noFill/>
          <a:ln/>
        </p:spPr>
        <p:txBody>
          <a:bodyPr wrap="square" lIns="0" tIns="0" rIns="0" bIns="0" rtlCol="0" anchor="ctr"/>
          <a:lstStyle/>
          <a:p>
            <a:pPr marL="0" indent="0" algn="ctr">
              <a:buNone/>
            </a:pPr>
            <a:r>
              <a:rPr lang="en-US" sz="1800" b="1" dirty="0">
                <a:solidFill>
                  <a:srgbClr val="0F2A43"/>
                </a:solidFill>
                <a:latin typeface="Cambria" pitchFamily="34" charset="0"/>
                <a:ea typeface="Cambria" pitchFamily="34" charset="-122"/>
                <a:cs typeface="Cambria" pitchFamily="34" charset="-120"/>
              </a:rPr>
              <a:t>Receive</a:t>
            </a:r>
            <a:endParaRPr lang="en-US" sz="1800" dirty="0"/>
          </a:p>
        </p:txBody>
      </p:sp>
      <p:sp>
        <p:nvSpPr>
          <p:cNvPr id="25" name="Shape 19"/>
          <p:cNvSpPr/>
          <p:nvPr/>
        </p:nvSpPr>
        <p:spPr>
          <a:xfrm>
            <a:off x="7342449" y="2788920"/>
            <a:ext cx="2036003" cy="2971800"/>
          </a:xfrm>
          <a:prstGeom prst="snip2DiagRect">
            <a:avLst>
              <a:gd name="adj1" fmla="val 0"/>
              <a:gd name="adj2" fmla="val 14000"/>
            </a:avLst>
          </a:prstGeom>
          <a:solidFill>
            <a:srgbClr val="FDE8E8"/>
          </a:solidFill>
          <a:ln w="6350">
            <a:solidFill>
              <a:srgbClr val="FDE8E8"/>
            </a:solidFill>
            <a:prstDash val="solid"/>
          </a:ln>
        </p:spPr>
      </p:sp>
      <p:sp>
        <p:nvSpPr>
          <p:cNvPr id="26" name="Text 20"/>
          <p:cNvSpPr txBox="1"/>
          <p:nvPr/>
        </p:nvSpPr>
        <p:spPr>
          <a:xfrm>
            <a:off x="7525329"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Cold or spilled food</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Missing or wrong items</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Can’t reach the delivery partner</a:t>
            </a:r>
            <a:endParaRPr lang="en-US" sz="1400" dirty="0"/>
          </a:p>
        </p:txBody>
      </p:sp>
      <p:sp>
        <p:nvSpPr>
          <p:cNvPr id="27" name="Text 21"/>
          <p:cNvSpPr txBox="1"/>
          <p:nvPr/>
        </p:nvSpPr>
        <p:spPr>
          <a:xfrm>
            <a:off x="7525329" y="4937760"/>
            <a:ext cx="1670243" cy="6858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5484D"/>
                </a:solidFill>
                <a:latin typeface="Cambria" pitchFamily="34" charset="0"/>
                <a:ea typeface="Cambria" pitchFamily="34" charset="-122"/>
                <a:cs typeface="Cambria" pitchFamily="34" charset="-120"/>
              </a:rPr>
              <a:t>Annoyed</a:t>
            </a:r>
            <a:endParaRPr lang="en-US" sz="1000" dirty="0"/>
          </a:p>
        </p:txBody>
      </p:sp>
      <p:sp>
        <p:nvSpPr>
          <p:cNvPr id="28" name="Shape 22"/>
          <p:cNvSpPr/>
          <p:nvPr/>
        </p:nvSpPr>
        <p:spPr>
          <a:xfrm>
            <a:off x="10213574" y="1371600"/>
            <a:ext cx="822960" cy="822960"/>
          </a:xfrm>
          <a:prstGeom prst="hexagon">
            <a:avLst/>
          </a:prstGeom>
          <a:solidFill>
            <a:srgbClr val="0F2A43"/>
          </a:solidFill>
          <a:ln w="6350">
            <a:solidFill>
              <a:srgbClr val="0F2A43"/>
            </a:solidFill>
            <a:prstDash val="solid"/>
          </a:ln>
        </p:spPr>
      </p:sp>
      <p:pic>
        <p:nvPicPr>
          <p:cNvPr id="29" name="Image 4" descr="preencoded.png"/>
          <p:cNvPicPr>
            <a:picLocks noChangeAspect="1"/>
          </p:cNvPicPr>
          <p:nvPr/>
        </p:nvPicPr>
        <p:blipFill>
          <a:blip r:embed="rId7"/>
          <a:stretch>
            <a:fillRect/>
          </a:stretch>
        </p:blipFill>
        <p:spPr>
          <a:xfrm>
            <a:off x="10419314" y="1577340"/>
            <a:ext cx="411480" cy="411480"/>
          </a:xfrm>
          <a:prstGeom prst="rect">
            <a:avLst/>
          </a:prstGeom>
        </p:spPr>
      </p:pic>
      <p:sp>
        <p:nvSpPr>
          <p:cNvPr id="30" name="Text 23"/>
          <p:cNvSpPr txBox="1"/>
          <p:nvPr/>
        </p:nvSpPr>
        <p:spPr>
          <a:xfrm>
            <a:off x="9607052" y="2331720"/>
            <a:ext cx="2036003" cy="365760"/>
          </a:xfrm>
          <a:prstGeom prst="rect">
            <a:avLst/>
          </a:prstGeom>
          <a:noFill/>
          <a:ln/>
        </p:spPr>
        <p:txBody>
          <a:bodyPr wrap="square" lIns="0" tIns="0" rIns="0" bIns="0" rtlCol="0" anchor="ctr"/>
          <a:lstStyle/>
          <a:p>
            <a:pPr marL="0" indent="0" algn="ctr">
              <a:buNone/>
            </a:pPr>
            <a:r>
              <a:rPr lang="en-US" sz="1800" b="1" dirty="0">
                <a:solidFill>
                  <a:srgbClr val="0F2A43"/>
                </a:solidFill>
                <a:latin typeface="Cambria" pitchFamily="34" charset="0"/>
                <a:ea typeface="Cambria" pitchFamily="34" charset="-122"/>
                <a:cs typeface="Cambria" pitchFamily="34" charset="-120"/>
              </a:rPr>
              <a:t>Get help</a:t>
            </a:r>
            <a:endParaRPr lang="en-US" sz="1800" dirty="0"/>
          </a:p>
        </p:txBody>
      </p:sp>
      <p:sp>
        <p:nvSpPr>
          <p:cNvPr id="31" name="Shape 24"/>
          <p:cNvSpPr/>
          <p:nvPr/>
        </p:nvSpPr>
        <p:spPr>
          <a:xfrm>
            <a:off x="9607052" y="2788920"/>
            <a:ext cx="2036003" cy="2971800"/>
          </a:xfrm>
          <a:prstGeom prst="snip2DiagRect">
            <a:avLst>
              <a:gd name="adj1" fmla="val 0"/>
              <a:gd name="adj2" fmla="val 14000"/>
            </a:avLst>
          </a:prstGeom>
          <a:solidFill>
            <a:srgbClr val="FDE8E8"/>
          </a:solidFill>
          <a:ln w="6350">
            <a:solidFill>
              <a:srgbClr val="FDE8E8"/>
            </a:solidFill>
            <a:prstDash val="solid"/>
          </a:ln>
        </p:spPr>
      </p:sp>
      <p:sp>
        <p:nvSpPr>
          <p:cNvPr id="32" name="Text 25"/>
          <p:cNvSpPr txBox="1"/>
          <p:nvPr/>
        </p:nvSpPr>
        <p:spPr>
          <a:xfrm>
            <a:off x="9789932"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Chatbot loops</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Repeating the story to each agent</a:t>
            </a:r>
            <a:endParaRPr lang="en-US" sz="1400" dirty="0"/>
          </a:p>
          <a:p>
            <a:pPr marL="152400" indent="-152400">
              <a:spcAft>
                <a:spcPts val="600"/>
              </a:spcAft>
              <a:buSzPct val="100000"/>
              <a:buChar char="•"/>
            </a:pPr>
            <a:r>
              <a:rPr lang="en-US" sz="1400" dirty="0">
                <a:solidFill>
                  <a:srgbClr val="0F2A43"/>
                </a:solidFill>
                <a:latin typeface="Calibri" pitchFamily="34" charset="0"/>
                <a:ea typeface="Calibri" pitchFamily="34" charset="-122"/>
                <a:cs typeface="Calibri" pitchFamily="34" charset="-120"/>
              </a:rPr>
              <a:t>Refunds take days</a:t>
            </a:r>
            <a:endParaRPr lang="en-US" sz="1400" dirty="0"/>
          </a:p>
        </p:txBody>
      </p:sp>
      <p:sp>
        <p:nvSpPr>
          <p:cNvPr id="33" name="Text 26"/>
          <p:cNvSpPr txBox="1"/>
          <p:nvPr/>
        </p:nvSpPr>
        <p:spPr>
          <a:xfrm>
            <a:off x="9789932" y="4937760"/>
            <a:ext cx="1670243" cy="685800"/>
          </a:xfrm>
          <a:prstGeom prst="rect">
            <a:avLst/>
          </a:prstGeom>
          <a:noFill/>
          <a:ln/>
        </p:spPr>
        <p:txBody>
          <a:bodyPr wrap="square" lIns="0" tIns="0" rIns="0" bIns="0" rtlCol="0" anchor="ctr"/>
          <a:lstStyle/>
          <a:p>
            <a:pPr marL="0" indent="0">
              <a:buNone/>
            </a:pPr>
            <a:r>
              <a:rPr lang="en-US" sz="1000" b="1" kern="0" spc="200" dirty="0">
                <a:solidFill>
                  <a:srgbClr val="5B6B82"/>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5484D"/>
                </a:solidFill>
                <a:latin typeface="Cambria" pitchFamily="34" charset="0"/>
                <a:ea typeface="Cambria" pitchFamily="34" charset="-122"/>
                <a:cs typeface="Cambria" pitchFamily="34" charset="-120"/>
              </a:rPr>
              <a:t>Helpless</a:t>
            </a:r>
            <a:endParaRPr lang="en-US" sz="1000" dirty="0"/>
          </a:p>
        </p:txBody>
      </p:sp>
      <p:sp>
        <p:nvSpPr>
          <p:cNvPr id="34" name="Text 27"/>
          <p:cNvSpPr txBox="1"/>
          <p:nvPr/>
        </p:nvSpPr>
        <p:spPr>
          <a:xfrm>
            <a:off x="548640" y="5989320"/>
            <a:ext cx="11094415" cy="365760"/>
          </a:xfrm>
          <a:prstGeom prst="rect">
            <a:avLst/>
          </a:prstGeom>
          <a:noFill/>
          <a:ln/>
        </p:spPr>
        <p:txBody>
          <a:bodyPr wrap="square" lIns="0" tIns="0" rIns="0" bIns="0" rtlCol="0" anchor="ctr"/>
          <a:lstStyle/>
          <a:p>
            <a:pPr marL="0" indent="0">
              <a:buNone/>
            </a:pPr>
            <a:r>
              <a:rPr lang="en-US" sz="1600" i="1" dirty="0">
                <a:solidFill>
                  <a:srgbClr val="5B6B82"/>
                </a:solidFill>
                <a:latin typeface="Calibri" pitchFamily="34" charset="0"/>
                <a:ea typeface="Calibri" pitchFamily="34" charset="-122"/>
                <a:cs typeface="Calibri" pitchFamily="34" charset="-120"/>
              </a:rPr>
              <a:t>Trust breaks when Swiggy’s promise (price, ETA, order) doesn’t match reality.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What Fiya expects, and what delights her</a:t>
            </a:r>
            <a:endParaRPr lang="en-US" sz="3400" u="sng" dirty="0"/>
          </a:p>
        </p:txBody>
      </p:sp>
      <p:sp>
        <p:nvSpPr>
          <p:cNvPr id="3" name="Shape 1"/>
          <p:cNvSpPr/>
          <p:nvPr/>
        </p:nvSpPr>
        <p:spPr>
          <a:xfrm>
            <a:off x="548640" y="1371600"/>
            <a:ext cx="3514954" cy="4846320"/>
          </a:xfrm>
          <a:prstGeom prst="snip2DiagRect">
            <a:avLst>
              <a:gd name="adj1" fmla="val 0"/>
              <a:gd name="adj2" fmla="val 14000"/>
            </a:avLst>
          </a:prstGeom>
          <a:solidFill>
            <a:srgbClr val="0F2A43"/>
          </a:solidFill>
          <a:ln w="6350">
            <a:solidFill>
              <a:srgbClr val="0F2A43"/>
            </a:solidFill>
            <a:prstDash val="solid"/>
          </a:ln>
        </p:spPr>
      </p:sp>
      <p:sp>
        <p:nvSpPr>
          <p:cNvPr id="4" name="Text 2"/>
          <p:cNvSpPr txBox="1"/>
          <p:nvPr/>
        </p:nvSpPr>
        <p:spPr>
          <a:xfrm>
            <a:off x="868680"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FFFFFF"/>
                </a:solidFill>
                <a:latin typeface="Cambria" pitchFamily="34" charset="0"/>
                <a:ea typeface="Cambria" pitchFamily="34" charset="-122"/>
                <a:cs typeface="Cambria" pitchFamily="34" charset="-120"/>
              </a:rPr>
              <a:t>Must-haves</a:t>
            </a:r>
            <a:endParaRPr lang="en-US" sz="2400" dirty="0"/>
          </a:p>
          <a:p>
            <a:pPr marL="0" indent="0">
              <a:spcAft>
                <a:spcPts val="300"/>
              </a:spcAft>
              <a:buNone/>
            </a:pPr>
            <a:r>
              <a:rPr lang="en-US" sz="1400" dirty="0">
                <a:solidFill>
                  <a:srgbClr val="C5D3E8"/>
                </a:solidFill>
                <a:latin typeface="Calibri" pitchFamily="34" charset="0"/>
                <a:ea typeface="Calibri" pitchFamily="34" charset="-122"/>
                <a:cs typeface="Calibri" pitchFamily="34" charset="-120"/>
              </a:rPr>
              <a:t>Miss these and she leaves</a:t>
            </a:r>
            <a:endParaRPr lang="en-US" sz="2400" dirty="0"/>
          </a:p>
        </p:txBody>
      </p:sp>
      <p:sp>
        <p:nvSpPr>
          <p:cNvPr id="5" name="Text 3"/>
          <p:cNvSpPr txBox="1"/>
          <p:nvPr/>
        </p:nvSpPr>
        <p:spPr>
          <a:xfrm>
            <a:off x="868680"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Accurate ETA</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Right order, right items</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Food arrives hot and safe</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Secure, reliable payment</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Transparent pricing</a:t>
            </a:r>
            <a:endParaRPr lang="en-US" sz="1800" dirty="0"/>
          </a:p>
        </p:txBody>
      </p:sp>
      <p:sp>
        <p:nvSpPr>
          <p:cNvPr id="6" name="Shape 4"/>
          <p:cNvSpPr/>
          <p:nvPr/>
        </p:nvSpPr>
        <p:spPr>
          <a:xfrm>
            <a:off x="4337914" y="1371600"/>
            <a:ext cx="3514954" cy="4846320"/>
          </a:xfrm>
          <a:prstGeom prst="snip2DiagRect">
            <a:avLst>
              <a:gd name="adj1" fmla="val 0"/>
              <a:gd name="adj2" fmla="val 14000"/>
            </a:avLst>
          </a:prstGeom>
          <a:solidFill>
            <a:srgbClr val="EEF3FB"/>
          </a:solidFill>
          <a:ln w="6350">
            <a:solidFill>
              <a:srgbClr val="EEF3FB"/>
            </a:solidFill>
            <a:prstDash val="solid"/>
          </a:ln>
        </p:spPr>
      </p:sp>
      <p:sp>
        <p:nvSpPr>
          <p:cNvPr id="7" name="Text 5"/>
          <p:cNvSpPr txBox="1"/>
          <p:nvPr/>
        </p:nvSpPr>
        <p:spPr>
          <a:xfrm>
            <a:off x="4657954"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0F2A43"/>
                </a:solidFill>
                <a:latin typeface="Cambria" pitchFamily="34" charset="0"/>
                <a:ea typeface="Cambria" pitchFamily="34" charset="-122"/>
                <a:cs typeface="Cambria" pitchFamily="34" charset="-120"/>
              </a:rPr>
              <a:t>Expected</a:t>
            </a:r>
            <a:endParaRPr lang="en-US" sz="2400" dirty="0"/>
          </a:p>
          <a:p>
            <a:pPr marL="0" indent="0">
              <a:spcAft>
                <a:spcPts val="300"/>
              </a:spcAft>
              <a:buNone/>
            </a:pPr>
            <a:r>
              <a:rPr lang="en-US" sz="1400" dirty="0">
                <a:solidFill>
                  <a:srgbClr val="5B6B82"/>
                </a:solidFill>
                <a:latin typeface="Calibri" pitchFamily="34" charset="0"/>
                <a:ea typeface="Calibri" pitchFamily="34" charset="-122"/>
                <a:cs typeface="Calibri" pitchFamily="34" charset="-120"/>
              </a:rPr>
              <a:t>Rivals already offer these</a:t>
            </a:r>
            <a:endParaRPr lang="en-US" sz="2400" dirty="0"/>
          </a:p>
        </p:txBody>
      </p:sp>
      <p:sp>
        <p:nvSpPr>
          <p:cNvPr id="8" name="Text 6"/>
          <p:cNvSpPr txBox="1"/>
          <p:nvPr/>
        </p:nvSpPr>
        <p:spPr>
          <a:xfrm>
            <a:off x="4657954"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0F2A43"/>
                </a:solidFill>
                <a:latin typeface="Calibri" pitchFamily="34" charset="0"/>
                <a:ea typeface="Calibri" pitchFamily="34" charset="-122"/>
                <a:cs typeface="Calibri" pitchFamily="34" charset="-120"/>
              </a:rPr>
              <a:t>Live order tracking</a:t>
            </a:r>
            <a:endParaRPr lang="en-US" sz="1800" dirty="0"/>
          </a:p>
          <a:p>
            <a:pPr marL="203200" indent="-203200">
              <a:spcAft>
                <a:spcPts val="1400"/>
              </a:spcAft>
              <a:buSzPct val="100000"/>
              <a:buChar char="•"/>
            </a:pPr>
            <a:r>
              <a:rPr lang="en-US" sz="1800" dirty="0">
                <a:solidFill>
                  <a:srgbClr val="0F2A43"/>
                </a:solidFill>
                <a:latin typeface="Calibri" pitchFamily="34" charset="0"/>
                <a:ea typeface="Calibri" pitchFamily="34" charset="-122"/>
                <a:cs typeface="Calibri" pitchFamily="34" charset="-120"/>
              </a:rPr>
              <a:t>Easy cancellation and refunds</a:t>
            </a:r>
            <a:endParaRPr lang="en-US" sz="1800" dirty="0"/>
          </a:p>
          <a:p>
            <a:pPr marL="203200" indent="-203200">
              <a:spcAft>
                <a:spcPts val="1400"/>
              </a:spcAft>
              <a:buSzPct val="100000"/>
              <a:buChar char="•"/>
            </a:pPr>
            <a:r>
              <a:rPr lang="en-US" sz="1800" dirty="0">
                <a:solidFill>
                  <a:srgbClr val="0F2A43"/>
                </a:solidFill>
                <a:latin typeface="Calibri" pitchFamily="34" charset="0"/>
                <a:ea typeface="Calibri" pitchFamily="34" charset="-122"/>
                <a:cs typeface="Calibri" pitchFamily="34" charset="-120"/>
              </a:rPr>
              <a:t>Veg-only and dietary filters</a:t>
            </a:r>
            <a:endParaRPr lang="en-US" sz="1800" dirty="0"/>
          </a:p>
          <a:p>
            <a:pPr marL="203200" indent="-203200">
              <a:spcAft>
                <a:spcPts val="1400"/>
              </a:spcAft>
              <a:buSzPct val="100000"/>
              <a:buChar char="•"/>
            </a:pPr>
            <a:r>
              <a:rPr lang="en-US" sz="1800" dirty="0">
                <a:solidFill>
                  <a:srgbClr val="0F2A43"/>
                </a:solidFill>
                <a:latin typeface="Calibri" pitchFamily="34" charset="0"/>
                <a:ea typeface="Calibri" pitchFamily="34" charset="-122"/>
                <a:cs typeface="Calibri" pitchFamily="34" charset="-120"/>
              </a:rPr>
              <a:t>UPI, cards and Swiggy Money</a:t>
            </a:r>
            <a:endParaRPr lang="en-US" sz="1800" dirty="0"/>
          </a:p>
          <a:p>
            <a:pPr marL="203200" indent="-203200">
              <a:spcAft>
                <a:spcPts val="1400"/>
              </a:spcAft>
              <a:buSzPct val="100000"/>
              <a:buChar char="•"/>
            </a:pPr>
            <a:r>
              <a:rPr lang="en-US" sz="1800" dirty="0">
                <a:solidFill>
                  <a:srgbClr val="0F2A43"/>
                </a:solidFill>
                <a:latin typeface="Calibri" pitchFamily="34" charset="0"/>
                <a:ea typeface="Calibri" pitchFamily="34" charset="-122"/>
                <a:cs typeface="Calibri" pitchFamily="34" charset="-120"/>
              </a:rPr>
              <a:t>Relevant offers, Swiggy One perks</a:t>
            </a:r>
            <a:endParaRPr lang="en-US" sz="1800" dirty="0"/>
          </a:p>
        </p:txBody>
      </p:sp>
      <p:sp>
        <p:nvSpPr>
          <p:cNvPr id="9" name="Shape 7"/>
          <p:cNvSpPr/>
          <p:nvPr/>
        </p:nvSpPr>
        <p:spPr>
          <a:xfrm>
            <a:off x="8127187" y="1371600"/>
            <a:ext cx="3514954" cy="4846320"/>
          </a:xfrm>
          <a:prstGeom prst="snip2DiagRect">
            <a:avLst>
              <a:gd name="adj1" fmla="val 0"/>
              <a:gd name="adj2" fmla="val 14000"/>
            </a:avLst>
          </a:prstGeom>
          <a:solidFill>
            <a:srgbClr val="2F6BFF"/>
          </a:solidFill>
          <a:ln w="6350">
            <a:solidFill>
              <a:srgbClr val="2F6BFF"/>
            </a:solidFill>
            <a:prstDash val="solid"/>
          </a:ln>
        </p:spPr>
      </p:sp>
      <p:sp>
        <p:nvSpPr>
          <p:cNvPr id="10" name="Text 8"/>
          <p:cNvSpPr txBox="1"/>
          <p:nvPr/>
        </p:nvSpPr>
        <p:spPr>
          <a:xfrm>
            <a:off x="8447227"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FFFFFF"/>
                </a:solidFill>
                <a:latin typeface="Cambria" pitchFamily="34" charset="0"/>
                <a:ea typeface="Cambria" pitchFamily="34" charset="-122"/>
                <a:cs typeface="Cambria" pitchFamily="34" charset="-120"/>
              </a:rPr>
              <a:t>Delighters</a:t>
            </a:r>
            <a:endParaRPr lang="en-US" sz="2400" dirty="0"/>
          </a:p>
          <a:p>
            <a:pPr marL="0" indent="0">
              <a:spcAft>
                <a:spcPts val="300"/>
              </a:spcAft>
              <a:buNone/>
            </a:pPr>
            <a:r>
              <a:rPr lang="en-US" sz="1400" dirty="0">
                <a:solidFill>
                  <a:srgbClr val="DCE8FF"/>
                </a:solidFill>
                <a:latin typeface="Calibri" pitchFamily="34" charset="0"/>
                <a:ea typeface="Calibri" pitchFamily="34" charset="-122"/>
                <a:cs typeface="Calibri" pitchFamily="34" charset="-120"/>
              </a:rPr>
              <a:t>Make her tell friends</a:t>
            </a:r>
            <a:endParaRPr lang="en-US" sz="2400" dirty="0"/>
          </a:p>
        </p:txBody>
      </p:sp>
      <p:sp>
        <p:nvSpPr>
          <p:cNvPr id="11" name="Text 9"/>
          <p:cNvSpPr txBox="1"/>
          <p:nvPr/>
        </p:nvSpPr>
        <p:spPr>
          <a:xfrm>
            <a:off x="8447227"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Smart reorder: “Your usual Friday lunch?”</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Swiggy One credit for late orders</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Photo proof at drop-off</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Group orders with split bill</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Eco packaging, cutlery-free default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0F2A43"/>
                </a:solidFill>
                <a:latin typeface="Cambria" pitchFamily="34" charset="0"/>
                <a:ea typeface="Cambria" pitchFamily="34" charset="-122"/>
                <a:cs typeface="Cambria" pitchFamily="34" charset="-120"/>
              </a:rPr>
              <a:t>From insight to action for Swiggy</a:t>
            </a:r>
            <a:endParaRPr lang="en-US" sz="3400" u="sng"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663440"/>
        </p:xfrm>
        <a:graphic>
          <a:graphicData uri="http://schemas.openxmlformats.org/drawingml/2006/table">
            <a:tbl>
              <a:tblPr/>
              <a:tblGrid>
                <a:gridCol w="30175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876495">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Frustration</a:t>
                      </a:r>
                      <a:endParaRPr lang="en-US" sz="1700" dirty="0">
                        <a:latin typeface="Cambria" charset="0"/>
                        <a:ea typeface="Cambria" charset="0"/>
                        <a:cs typeface="Cambria"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0F2A43"/>
                    </a:solidFill>
                  </a:tcPr>
                </a:tc>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Design opportunity</a:t>
                      </a:r>
                      <a:endParaRPr lang="en-US" sz="1700" dirty="0">
                        <a:latin typeface="Cambria" charset="0"/>
                        <a:ea typeface="Cambria" charset="0"/>
                        <a:cs typeface="Cambria"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0F2A43"/>
                    </a:solidFill>
                  </a:tcPr>
                </a:tc>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Swiggy feature idea</a:t>
                      </a:r>
                      <a:endParaRPr lang="en-US" sz="1700" dirty="0">
                        <a:latin typeface="Cambria" charset="0"/>
                        <a:ea typeface="Cambria" charset="0"/>
                        <a:cs typeface="Cambria"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822960">
                <a:tc>
                  <a:txBody>
                    <a:bodyPr/>
                    <a:lstStyle/>
                    <a:p>
                      <a:pPr marL="0" indent="0">
                        <a:buNone/>
                      </a:pPr>
                      <a:r>
                        <a:rPr lang="en-US" sz="1600" b="1" dirty="0">
                          <a:solidFill>
                            <a:srgbClr val="0F2A43"/>
                          </a:solidFill>
                          <a:latin typeface="Calibri" pitchFamily="34" charset="0"/>
                          <a:ea typeface="Calibri" pitchFamily="34" charset="-122"/>
                          <a:cs typeface="Calibri" pitchFamily="34" charset="-120"/>
                        </a:rPr>
                        <a:t>Surprise fees at checkout</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Show the true price early</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“All-in price” on listings; itemised platform, handling and delivery fees</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600" b="1" dirty="0">
                          <a:solidFill>
                            <a:srgbClr val="0F2A43"/>
                          </a:solidFill>
                          <a:latin typeface="Calibri" pitchFamily="34" charset="0"/>
                          <a:ea typeface="Calibri" pitchFamily="34" charset="-122"/>
                          <a:cs typeface="Calibri" pitchFamily="34" charset="-120"/>
                        </a:rPr>
                        <a:t>ETAs that keep shifting</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Honest, live estimates</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ETA range with proactive delay alerts and automatic credit</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extLst>
                  <a:ext uri="{0D108BD9-81ED-4DB2-BD59-A6C34878D82A}">
                    <a16:rowId xmlns:a16="http://schemas.microsoft.com/office/drawing/2014/main" val="10002"/>
                  </a:ext>
                </a:extLst>
              </a:tr>
              <a:tr h="822960">
                <a:tc>
                  <a:txBody>
                    <a:bodyPr/>
                    <a:lstStyle/>
                    <a:p>
                      <a:pPr marL="0" indent="0">
                        <a:buNone/>
                      </a:pPr>
                      <a:r>
                        <a:rPr lang="en-US" sz="1600" b="1" dirty="0">
                          <a:solidFill>
                            <a:srgbClr val="0F2A43"/>
                          </a:solidFill>
                          <a:latin typeface="Calibri" pitchFamily="34" charset="0"/>
                          <a:ea typeface="Calibri" pitchFamily="34" charset="-122"/>
                          <a:cs typeface="Calibri" pitchFamily="34" charset="-120"/>
                        </a:rPr>
                        <a:t>Wrong or missing items</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Prevent errors, fix them fast</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Packing checklist and drop-off photo; one-tap item report</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1600" b="1" dirty="0">
                          <a:solidFill>
                            <a:srgbClr val="0F2A43"/>
                          </a:solidFill>
                          <a:latin typeface="Calibri" pitchFamily="34" charset="0"/>
                          <a:ea typeface="Calibri" pitchFamily="34" charset="-122"/>
                          <a:cs typeface="Calibri" pitchFamily="34" charset="-120"/>
                        </a:rPr>
                        <a:t>Support loops, slow refunds</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Resolve small issues instantly</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Instant Swiggy Money refunds on small issues; human chat in two taps</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EEF3FB"/>
                    </a:solidFill>
                  </a:tcPr>
                </a:tc>
                <a:extLst>
                  <a:ext uri="{0D108BD9-81ED-4DB2-BD59-A6C34878D82A}">
                    <a16:rowId xmlns:a16="http://schemas.microsoft.com/office/drawing/2014/main" val="10004"/>
                  </a:ext>
                </a:extLst>
              </a:tr>
              <a:tr h="822960">
                <a:tc>
                  <a:txBody>
                    <a:bodyPr/>
                    <a:lstStyle/>
                    <a:p>
                      <a:pPr marL="0" indent="0">
                        <a:buNone/>
                      </a:pPr>
                      <a:r>
                        <a:rPr lang="en-US" sz="1600" b="1" dirty="0">
                          <a:solidFill>
                            <a:srgbClr val="0F2A43"/>
                          </a:solidFill>
                          <a:latin typeface="Calibri" pitchFamily="34" charset="0"/>
                          <a:ea typeface="Calibri" pitchFamily="34" charset="-122"/>
                          <a:cs typeface="Calibri" pitchFamily="34" charset="-120"/>
                        </a:rPr>
                        <a:t>Endless scrolling</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Cut decision effort</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tc>
                  <a:txBody>
                    <a:bodyPr/>
                    <a:lstStyle/>
                    <a:p>
                      <a:pPr marL="0" indent="0">
                        <a:buNone/>
                      </a:pPr>
                      <a:r>
                        <a:rPr lang="en-US" sz="1600" dirty="0">
                          <a:solidFill>
                            <a:srgbClr val="0F2A43"/>
                          </a:solidFill>
                          <a:latin typeface="Calibri" pitchFamily="34" charset="0"/>
                          <a:ea typeface="Calibri" pitchFamily="34" charset="-122"/>
                          <a:cs typeface="Calibri" pitchFamily="34" charset="-120"/>
                        </a:rPr>
                        <a:t>“Your usuals” row, smart filters, one-tap Order Again</a:t>
                      </a:r>
                      <a:endParaRPr lang="en-US" sz="1600" dirty="0">
                        <a:latin typeface="Calibri" charset="0"/>
                        <a:ea typeface="Calibri" charset="0"/>
                        <a:cs typeface="Calibri" charset="0"/>
                      </a:endParaRPr>
                    </a:p>
                  </a:txBody>
                  <a:tcPr anchor="ctr">
                    <a:lnL w="6350" cap="flat" cmpd="sng" algn="ctr">
                      <a:solidFill>
                        <a:srgbClr val="D6E0F0"/>
                      </a:solidFill>
                      <a:prstDash val="solid"/>
                      <a:round/>
                      <a:headEnd type="none" w="med" len="med"/>
                      <a:tailEnd type="none" w="med" len="med"/>
                    </a:lnL>
                    <a:lnR w="6350" cap="flat" cmpd="sng" algn="ctr">
                      <a:solidFill>
                        <a:srgbClr val="D6E0F0"/>
                      </a:solidFill>
                      <a:prstDash val="solid"/>
                      <a:round/>
                      <a:headEnd type="none" w="med" len="med"/>
                      <a:tailEnd type="none" w="med" len="med"/>
                    </a:lnR>
                    <a:lnT w="6350" cap="flat" cmpd="sng" algn="ctr">
                      <a:solidFill>
                        <a:srgbClr val="D6E0F0"/>
                      </a:solidFill>
                      <a:prstDash val="solid"/>
                      <a:round/>
                      <a:headEnd type="none" w="med" len="med"/>
                      <a:tailEnd type="none" w="med" len="med"/>
                    </a:lnT>
                    <a:lnB w="6350" cap="flat" cmpd="sng" algn="ctr">
                      <a:solidFill>
                        <a:srgbClr val="D6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3"/>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5486400" cy="365760"/>
          </a:xfrm>
          <a:prstGeom prst="rect">
            <a:avLst/>
          </a:prstGeom>
          <a:noFill/>
          <a:ln/>
        </p:spPr>
        <p:txBody>
          <a:bodyPr wrap="square" lIns="0" tIns="0" rIns="0" bIns="0" rtlCol="0" anchor="ctr"/>
          <a:lstStyle/>
          <a:p>
            <a:pPr marL="0" indent="0">
              <a:buNone/>
            </a:pPr>
            <a:r>
              <a:rPr lang="en-US" sz="1300" b="1" kern="0" spc="400" dirty="0">
                <a:solidFill>
                  <a:srgbClr val="8FB4FF"/>
                </a:solidFill>
                <a:latin typeface="Calibri" pitchFamily="34" charset="0"/>
                <a:ea typeface="Calibri" pitchFamily="34" charset="-122"/>
                <a:cs typeface="Calibri" pitchFamily="34" charset="-120"/>
              </a:rPr>
              <a:t>KEY TAKEAWAY</a:t>
            </a:r>
            <a:endParaRPr lang="en-US" sz="1300" dirty="0"/>
          </a:p>
        </p:txBody>
      </p:sp>
      <p:sp>
        <p:nvSpPr>
          <p:cNvPr id="3" name="Text 1"/>
          <p:cNvSpPr txBox="1"/>
          <p:nvPr/>
        </p:nvSpPr>
        <p:spPr>
          <a:xfrm>
            <a:off x="731520" y="1691640"/>
            <a:ext cx="6035040" cy="22860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Fiya doesn’t want more features. She wants certainty.</a:t>
            </a:r>
            <a:endParaRPr lang="en-US" sz="4000" dirty="0"/>
          </a:p>
        </p:txBody>
      </p:sp>
      <p:sp>
        <p:nvSpPr>
          <p:cNvPr id="4" name="Text 2"/>
          <p:cNvSpPr txBox="1"/>
          <p:nvPr/>
        </p:nvSpPr>
        <p:spPr>
          <a:xfrm>
            <a:off x="731520" y="4206240"/>
            <a:ext cx="5852160" cy="914400"/>
          </a:xfrm>
          <a:prstGeom prst="rect">
            <a:avLst/>
          </a:prstGeom>
          <a:noFill/>
          <a:ln/>
        </p:spPr>
        <p:txBody>
          <a:bodyPr wrap="square" lIns="0" tIns="0" rIns="0" bIns="0" rtlCol="0" anchor="t"/>
          <a:lstStyle/>
          <a:p>
            <a:pPr marL="0" indent="0">
              <a:buNone/>
            </a:pPr>
            <a:r>
              <a:rPr lang="en-US" sz="1800" dirty="0">
                <a:solidFill>
                  <a:srgbClr val="C5D3E8"/>
                </a:solidFill>
                <a:latin typeface="Calibri" pitchFamily="34" charset="0"/>
                <a:ea typeface="Calibri" pitchFamily="34" charset="-122"/>
                <a:cs typeface="Calibri" pitchFamily="34" charset="-120"/>
              </a:rPr>
              <a:t>Design for trust: honest prices, honest ETAs, and fast fixes when things go wrong.</a:t>
            </a:r>
            <a:endParaRPr lang="en-US" sz="1800" dirty="0"/>
          </a:p>
        </p:txBody>
      </p:sp>
      <p:sp>
        <p:nvSpPr>
          <p:cNvPr id="5" name="Shape 3"/>
          <p:cNvSpPr/>
          <p:nvPr/>
        </p:nvSpPr>
        <p:spPr>
          <a:xfrm>
            <a:off x="7315200" y="1097280"/>
            <a:ext cx="4325112" cy="4663440"/>
          </a:xfrm>
          <a:prstGeom prst="snip2DiagRect">
            <a:avLst>
              <a:gd name="adj1" fmla="val 0"/>
              <a:gd name="adj2" fmla="val 14000"/>
            </a:avLst>
          </a:prstGeom>
          <a:solidFill>
            <a:srgbClr val="24456B"/>
          </a:solidFill>
          <a:ln w="6350">
            <a:solidFill>
              <a:srgbClr val="24456B"/>
            </a:solidFill>
            <a:prstDash val="solid"/>
          </a:ln>
        </p:spPr>
      </p:sp>
      <p:sp>
        <p:nvSpPr>
          <p:cNvPr id="6" name="Text 4"/>
          <p:cNvSpPr txBox="1"/>
          <p:nvPr/>
        </p:nvSpPr>
        <p:spPr>
          <a:xfrm>
            <a:off x="7680960" y="1371600"/>
            <a:ext cx="36576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Next steps</a:t>
            </a:r>
            <a:endParaRPr lang="en-US" sz="2400" dirty="0"/>
          </a:p>
        </p:txBody>
      </p:sp>
      <p:sp>
        <p:nvSpPr>
          <p:cNvPr id="7" name="Shape 5"/>
          <p:cNvSpPr/>
          <p:nvPr/>
        </p:nvSpPr>
        <p:spPr>
          <a:xfrm>
            <a:off x="7680960" y="2148840"/>
            <a:ext cx="502920" cy="502920"/>
          </a:xfrm>
          <a:prstGeom prst="hexagon">
            <a:avLst/>
          </a:prstGeom>
          <a:solidFill>
            <a:srgbClr val="2F6BFF"/>
          </a:solidFill>
          <a:ln w="6350">
            <a:solidFill>
              <a:srgbClr val="2F6BFF"/>
            </a:solidFill>
            <a:prstDash val="solid"/>
          </a:ln>
        </p:spPr>
      </p:sp>
      <p:sp>
        <p:nvSpPr>
          <p:cNvPr id="8" name="Text 6"/>
          <p:cNvSpPr txBox="1"/>
          <p:nvPr/>
        </p:nvSpPr>
        <p:spPr>
          <a:xfrm>
            <a:off x="768096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8366760" y="205740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Validate the map with 5–8 user interviews</a:t>
            </a:r>
            <a:endParaRPr lang="en-US" sz="1600" dirty="0"/>
          </a:p>
        </p:txBody>
      </p:sp>
      <p:sp>
        <p:nvSpPr>
          <p:cNvPr id="10" name="Shape 8"/>
          <p:cNvSpPr/>
          <p:nvPr/>
        </p:nvSpPr>
        <p:spPr>
          <a:xfrm>
            <a:off x="7680960" y="3017520"/>
            <a:ext cx="502920" cy="502920"/>
          </a:xfrm>
          <a:prstGeom prst="hexagon">
            <a:avLst/>
          </a:prstGeom>
          <a:solidFill>
            <a:srgbClr val="2F6BFF"/>
          </a:solidFill>
          <a:ln w="6350">
            <a:solidFill>
              <a:srgbClr val="2F6BFF"/>
            </a:solidFill>
            <a:prstDash val="solid"/>
          </a:ln>
        </p:spPr>
      </p:sp>
      <p:sp>
        <p:nvSpPr>
          <p:cNvPr id="11" name="Text 9"/>
          <p:cNvSpPr txBox="1"/>
          <p:nvPr/>
        </p:nvSpPr>
        <p:spPr>
          <a:xfrm>
            <a:off x="7680960" y="3017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8366760" y="292608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Size the top pains in a short survey</a:t>
            </a:r>
            <a:endParaRPr lang="en-US" sz="1600" dirty="0"/>
          </a:p>
        </p:txBody>
      </p:sp>
      <p:sp>
        <p:nvSpPr>
          <p:cNvPr id="13" name="Shape 11"/>
          <p:cNvSpPr/>
          <p:nvPr/>
        </p:nvSpPr>
        <p:spPr>
          <a:xfrm>
            <a:off x="7680960" y="3886200"/>
            <a:ext cx="502920" cy="502920"/>
          </a:xfrm>
          <a:prstGeom prst="hexagon">
            <a:avLst/>
          </a:prstGeom>
          <a:solidFill>
            <a:srgbClr val="2F6BFF"/>
          </a:solidFill>
          <a:ln w="6350">
            <a:solidFill>
              <a:srgbClr val="2F6BFF"/>
            </a:solidFill>
            <a:prstDash val="solid"/>
          </a:ln>
        </p:spPr>
      </p:sp>
      <p:sp>
        <p:nvSpPr>
          <p:cNvPr id="14" name="Text 12"/>
          <p:cNvSpPr txBox="1"/>
          <p:nvPr/>
        </p:nvSpPr>
        <p:spPr>
          <a:xfrm>
            <a:off x="7680960" y="3886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8366760" y="379476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Prototype and test fee and ETA fixes in the Swiggy app</a:t>
            </a:r>
            <a:endParaRPr lang="en-US" sz="1600" dirty="0"/>
          </a:p>
        </p:txBody>
      </p:sp>
      <p:sp>
        <p:nvSpPr>
          <p:cNvPr id="16" name="Shape 14"/>
          <p:cNvSpPr/>
          <p:nvPr/>
        </p:nvSpPr>
        <p:spPr>
          <a:xfrm>
            <a:off x="7680960" y="4754880"/>
            <a:ext cx="502920" cy="502920"/>
          </a:xfrm>
          <a:prstGeom prst="hexagon">
            <a:avLst/>
          </a:prstGeom>
          <a:solidFill>
            <a:srgbClr val="2F6BFF"/>
          </a:solidFill>
          <a:ln w="6350">
            <a:solidFill>
              <a:srgbClr val="2F6BFF"/>
            </a:solidFill>
            <a:prstDash val="solid"/>
          </a:ln>
        </p:spPr>
      </p:sp>
      <p:sp>
        <p:nvSpPr>
          <p:cNvPr id="17" name="Text 15"/>
          <p:cNvSpPr txBox="1"/>
          <p:nvPr/>
        </p:nvSpPr>
        <p:spPr>
          <a:xfrm>
            <a:off x="7680960" y="4754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8366760" y="466344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Revisit the map after each release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1312</Words>
  <Application>Microsoft Office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 Swiggy Food and Instamart User (Swiggy)</dc:title>
  <dc:subject>PptxGenJS Presentation</dc:subject>
  <dc:creator>PptxGenJS</dc:creator>
  <cp:lastModifiedBy>mohan r</cp:lastModifiedBy>
  <cp:revision>4</cp:revision>
  <dcterms:created xsi:type="dcterms:W3CDTF">2026-09-20T03:57:04Z</dcterms:created>
  <dcterms:modified xsi:type="dcterms:W3CDTF">2026-09-20T07:33:53Z</dcterms:modified>
</cp:coreProperties>
</file>