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7" r:id="rId5"/>
    <p:sldId id="318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A09D79"/>
    <a:srgbClr val="505A47"/>
    <a:srgbClr val="D1D8B7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4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p core" userId="17efd34759de08b5" providerId="LiveId" clId="{9716EF38-1C44-400A-B855-8E7025CDB638}"/>
    <pc:docChg chg="modSld sldOrd">
      <pc:chgData name="hp core" userId="17efd34759de08b5" providerId="LiveId" clId="{9716EF38-1C44-400A-B855-8E7025CDB638}" dt="2026-08-26T15:09:04.651" v="1"/>
      <pc:docMkLst>
        <pc:docMk/>
      </pc:docMkLst>
      <pc:sldChg chg="ord">
        <pc:chgData name="hp core" userId="17efd34759de08b5" providerId="LiveId" clId="{9716EF38-1C44-400A-B855-8E7025CDB638}" dt="2026-08-26T15:09:04.651" v="1"/>
        <pc:sldMkLst>
          <pc:docMk/>
          <pc:sldMk cId="897930861" sldId="31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8/26/2026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11500" i="1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UI   VS   UX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59F3C-9D62-8BB6-29F3-760DF9341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51" y="294967"/>
            <a:ext cx="10104513" cy="1238865"/>
          </a:xfr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/>
          <a:lstStyle/>
          <a:p>
            <a:r>
              <a:rPr lang="en-IN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WHAT  DO  UI  AND  UX 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8FFA3-01DA-F1A8-F429-2B96D7B581A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🎀UI STANDS FOR    USER INTERFACE </a:t>
            </a:r>
          </a:p>
          <a:p>
            <a:endParaRPr lang="en-IN" sz="4000" dirty="0"/>
          </a:p>
          <a:p>
            <a:r>
              <a:rPr lang="en-IN" sz="4000" dirty="0"/>
              <a:t>🎀UX STANDS FOR USER EXPERIENCE 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4DA20A-3C0F-11C9-6F93-26068CFE9220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6328440" y="2039112"/>
            <a:ext cx="4946111" cy="39044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D661A-F190-7FE9-F5B3-DB4588228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930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E4DD-127D-6C38-FA06-92E8852B3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399"/>
            <a:ext cx="5641848" cy="1317523"/>
          </a:xfrm>
        </p:spPr>
        <p:txBody>
          <a:bodyPr/>
          <a:lstStyle/>
          <a:p>
            <a:r>
              <a:rPr lang="en-IN" sz="40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What is UI  (User Interface)?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E6CA20-AB39-886A-8275-49599F049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9533" y="1229360"/>
            <a:ext cx="4191000" cy="4399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761003-79C5-1CA2-3E3D-D18CE26CCA61}"/>
              </a:ext>
            </a:extLst>
          </p:cNvPr>
          <p:cNvSpPr txBox="1"/>
          <p:nvPr/>
        </p:nvSpPr>
        <p:spPr>
          <a:xfrm>
            <a:off x="950882" y="2379407"/>
            <a:ext cx="47700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UI Stands for User Interface. It is the look, feel, and design of a device or app everything a person touches, sees, or clicks to use a computer, phone, or website.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2CEFBA-6843-1206-81DF-46A9B38BE1E6}"/>
              </a:ext>
            </a:extLst>
          </p:cNvPr>
          <p:cNvSpPr txBox="1"/>
          <p:nvPr/>
        </p:nvSpPr>
        <p:spPr>
          <a:xfrm>
            <a:off x="1001467" y="4465884"/>
            <a:ext cx="438661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Key parts of UI: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i="1" dirty="0"/>
              <a:t>Buttons and icons: pictures and words you press to make things happen.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i="1" dirty="0" err="1"/>
              <a:t>Colors</a:t>
            </a:r>
            <a:r>
              <a:rPr lang="en-IN" sz="2000" b="1" i="1" dirty="0"/>
              <a:t> and fonts: the style, shades, and text types that make an app look nice  </a:t>
            </a:r>
          </a:p>
        </p:txBody>
      </p:sp>
    </p:spTree>
    <p:extLst>
      <p:ext uri="{BB962C8B-B14F-4D97-AF65-F5344CB8AC3E}">
        <p14:creationId xmlns:p14="http://schemas.microsoft.com/office/powerpoint/2010/main" val="4117536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BC12-F64D-A298-69F4-02B363F6D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43" y="135466"/>
            <a:ext cx="5641848" cy="6587067"/>
          </a:xfrm>
        </p:spPr>
        <p:txBody>
          <a:bodyPr/>
          <a:lstStyle/>
          <a:p>
            <a:pPr>
              <a:lnSpc>
                <a:spcPct val="100000"/>
              </a:lnSpc>
            </a:pPr>
            <a:br>
              <a:rPr lang="en-IN" sz="2400" dirty="0"/>
            </a:br>
            <a:br>
              <a:rPr lang="en-IN" sz="2400" dirty="0"/>
            </a:br>
            <a:r>
              <a:rPr lang="en-IN" sz="2400" b="1" dirty="0"/>
              <a:t>UX  Stands for User Experience. It means how a person feels and reacts when they use a product, system, or service. It covers ease of use, speed, and overall satisfaction.</a:t>
            </a:r>
            <a:br>
              <a:rPr lang="en-IN" sz="2400" b="1" dirty="0"/>
            </a:br>
            <a:br>
              <a:rPr lang="en-IN" sz="2400" dirty="0"/>
            </a:br>
            <a:r>
              <a:rPr lang="en-IN" sz="2400" b="1" u="sng" dirty="0"/>
              <a:t>Key parts of UX:</a:t>
            </a:r>
            <a:br>
              <a:rPr lang="en-IN" sz="2400" b="1" u="sng" dirty="0"/>
            </a:br>
            <a:r>
              <a:rPr lang="en-IN" sz="2400" b="1" i="1" dirty="0"/>
              <a:t>1.  Ease of use: How simple it is to do a task without confusion.</a:t>
            </a:r>
            <a:br>
              <a:rPr lang="en-IN" sz="2400" b="1" i="1" dirty="0"/>
            </a:br>
            <a:r>
              <a:rPr lang="en-IN" sz="2400" b="1" i="1" dirty="0"/>
              <a:t>2.  Usefulness: Whether the product solves a real problem for the user.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2A4CD8E-6617-8113-3B07-C96FE4EF92B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5778" r="25778"/>
          <a:stretch>
            <a:fillRect/>
          </a:stretch>
        </p:blipFill>
        <p:spPr>
          <a:xfrm>
            <a:off x="7401941" y="135466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rgbClr val="E5DACF">
              <a:lumMod val="75000"/>
            </a:srgbClr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58F152-1537-0D20-413F-F57D0A4D5EEE}"/>
              </a:ext>
            </a:extLst>
          </p:cNvPr>
          <p:cNvSpPr/>
          <p:nvPr/>
        </p:nvSpPr>
        <p:spPr>
          <a:xfrm>
            <a:off x="-65252" y="135466"/>
            <a:ext cx="6902245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800" b="1" u="sng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10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What is UX (User Experience) ?</a:t>
            </a:r>
          </a:p>
        </p:txBody>
      </p:sp>
    </p:spTree>
    <p:extLst>
      <p:ext uri="{BB962C8B-B14F-4D97-AF65-F5344CB8AC3E}">
        <p14:creationId xmlns:p14="http://schemas.microsoft.com/office/powerpoint/2010/main" val="265565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57E362-3DA8-49CC-7466-3BC7790B1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34D65C-A78E-150C-B5DB-F5A4FE8A12AB}"/>
              </a:ext>
            </a:extLst>
          </p:cNvPr>
          <p:cNvSpPr/>
          <p:nvPr/>
        </p:nvSpPr>
        <p:spPr>
          <a:xfrm>
            <a:off x="3576577" y="2685327"/>
            <a:ext cx="2384384" cy="221076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200" b="1" dirty="0"/>
              <a:t>UI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A058F1-83EC-C3A6-57D9-2F7FA194F924}"/>
              </a:ext>
            </a:extLst>
          </p:cNvPr>
          <p:cNvSpPr/>
          <p:nvPr/>
        </p:nvSpPr>
        <p:spPr>
          <a:xfrm>
            <a:off x="5461583" y="2685328"/>
            <a:ext cx="2384385" cy="2210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200" b="1" dirty="0"/>
              <a:t>UX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B297C-DBBC-ADFE-3122-9D511F43420F}"/>
              </a:ext>
            </a:extLst>
          </p:cNvPr>
          <p:cNvSpPr txBox="1"/>
          <p:nvPr/>
        </p:nvSpPr>
        <p:spPr>
          <a:xfrm>
            <a:off x="1840375" y="324091"/>
            <a:ext cx="96268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b="1" dirty="0"/>
              <a:t>DIFFERENCE  BETWEEN  UI  &amp; UX 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4266DF-0EEB-1E3E-BD92-11A6DDE11A74}"/>
              </a:ext>
            </a:extLst>
          </p:cNvPr>
          <p:cNvSpPr txBox="1"/>
          <p:nvPr/>
        </p:nvSpPr>
        <p:spPr>
          <a:xfrm>
            <a:off x="8479813" y="2517217"/>
            <a:ext cx="2502322" cy="3362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10000"/>
                  </a:schemeClr>
                </a:solidFill>
              </a:rPr>
              <a:t>EASY TO USE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10000"/>
                  </a:schemeClr>
                </a:solidFill>
              </a:rPr>
              <a:t>SATISFYING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10000"/>
                  </a:schemeClr>
                </a:solidFill>
              </a:rPr>
              <a:t>EASY NAVIGATION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10000"/>
                  </a:schemeClr>
                </a:solidFill>
              </a:rPr>
              <a:t>ACCESSIBILITY</a:t>
            </a:r>
          </a:p>
          <a:p>
            <a:pPr>
              <a:lnSpc>
                <a:spcPct val="150000"/>
              </a:lnSpc>
            </a:pPr>
            <a:endParaRPr lang="en-IN" sz="2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7BD1FF-31CE-A153-261B-CD3B2D1C363B}"/>
              </a:ext>
            </a:extLst>
          </p:cNvPr>
          <p:cNvSpPr txBox="1"/>
          <p:nvPr/>
        </p:nvSpPr>
        <p:spPr>
          <a:xfrm>
            <a:off x="406488" y="2517217"/>
            <a:ext cx="2867773" cy="22545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LOOK AND FEEL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BRAND COLORS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TYPOGRAPHY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PLEASING IMAGES</a:t>
            </a:r>
          </a:p>
        </p:txBody>
      </p:sp>
    </p:spTree>
    <p:extLst>
      <p:ext uri="{BB962C8B-B14F-4D97-AF65-F5344CB8AC3E}">
        <p14:creationId xmlns:p14="http://schemas.microsoft.com/office/powerpoint/2010/main" val="2579879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AF7B48-2B33-5018-3067-D6A087494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1E18B-3B59-18DF-827C-B0DE31DD5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36" y="571500"/>
            <a:ext cx="3696647" cy="5715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74EE2B1-DA38-B105-31BB-857908B10470}"/>
              </a:ext>
            </a:extLst>
          </p:cNvPr>
          <p:cNvSpPr/>
          <p:nvPr/>
        </p:nvSpPr>
        <p:spPr>
          <a:xfrm>
            <a:off x="880618" y="97131"/>
            <a:ext cx="6132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dirty="0">
                <a:ln w="9525">
                  <a:solidFill>
                    <a:schemeClr val="tx1">
                      <a:lumMod val="75000"/>
                    </a:schemeClr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SAVANA – UI VS UX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FAC8EC-4EEB-F059-9D0B-7139DEF7C40B}"/>
              </a:ext>
            </a:extLst>
          </p:cNvPr>
          <p:cNvSpPr txBox="1"/>
          <p:nvPr/>
        </p:nvSpPr>
        <p:spPr>
          <a:xfrm>
            <a:off x="267753" y="1144572"/>
            <a:ext cx="674492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highlight>
                  <a:srgbClr val="00FFFF"/>
                </a:highlight>
              </a:rPr>
              <a:t>Key UI elements:</a:t>
            </a:r>
          </a:p>
          <a:p>
            <a:pPr marL="400050" indent="-400050">
              <a:buFont typeface="+mj-lt"/>
              <a:buAutoNum type="romanLcPeriod"/>
            </a:pPr>
            <a:r>
              <a:rPr lang="en-IN" b="1" dirty="0"/>
              <a:t>Product </a:t>
            </a:r>
            <a:r>
              <a:rPr lang="en-IN" b="1" dirty="0" err="1"/>
              <a:t>Catalog</a:t>
            </a:r>
            <a:r>
              <a:rPr lang="en-IN" b="1" dirty="0"/>
              <a:t> &amp; Cards - Clean grid layout with fashion </a:t>
            </a:r>
            <a:r>
              <a:rPr lang="en-IN" b="1" dirty="0" err="1"/>
              <a:t>images,price</a:t>
            </a:r>
            <a:r>
              <a:rPr lang="en-IN" b="1" dirty="0"/>
              <a:t>, and category filters like Dresses, Tops, Bottoms.</a:t>
            </a:r>
          </a:p>
          <a:p>
            <a:pPr marL="400050" indent="-400050">
              <a:buFont typeface="+mj-lt"/>
              <a:buAutoNum type="romanLcPeriod"/>
            </a:pPr>
            <a:r>
              <a:rPr lang="en-IN" b="1" dirty="0"/>
              <a:t>Cart, Wishlist, Search Bar- Add to cart, save </a:t>
            </a:r>
            <a:r>
              <a:rPr lang="en-IN" b="1" dirty="0" err="1"/>
              <a:t>favorites</a:t>
            </a:r>
            <a:r>
              <a:rPr lang="en-IN" b="1" dirty="0"/>
              <a:t>, live search.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59AE71-B774-D231-123A-9DB09FD44EB7}"/>
              </a:ext>
            </a:extLst>
          </p:cNvPr>
          <p:cNvSpPr txBox="1"/>
          <p:nvPr/>
        </p:nvSpPr>
        <p:spPr>
          <a:xfrm>
            <a:off x="347006" y="2733307"/>
            <a:ext cx="666627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highlight>
                  <a:srgbClr val="00FFFF"/>
                </a:highlight>
              </a:rPr>
              <a:t>Key UX features:</a:t>
            </a:r>
          </a:p>
          <a:p>
            <a:pPr marL="400050" indent="-400050">
              <a:buFont typeface="+mj-lt"/>
              <a:buAutoNum type="romanLcPeriod"/>
            </a:pPr>
            <a:r>
              <a:rPr lang="en-IN" b="1" dirty="0"/>
              <a:t>Smooth Shopping Flow - Add to cart with size/</a:t>
            </a:r>
            <a:r>
              <a:rPr lang="en-IN" b="1" dirty="0" err="1"/>
              <a:t>color</a:t>
            </a:r>
            <a:r>
              <a:rPr lang="en-IN" b="1" dirty="0"/>
              <a:t>, quantity controls, automatic total calculation.</a:t>
            </a:r>
          </a:p>
          <a:p>
            <a:pPr marL="400050" indent="-400050">
              <a:buFont typeface="+mj-lt"/>
              <a:buAutoNum type="romanLcPeriod"/>
            </a:pPr>
            <a:r>
              <a:rPr lang="en-IN" b="1" dirty="0"/>
              <a:t>Smart AI Recommendations- Suggests complementary accessories, full outfits, and shows “match score%”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456420-B1E6-6E21-A302-B9D6BF85944E}"/>
              </a:ext>
            </a:extLst>
          </p:cNvPr>
          <p:cNvSpPr txBox="1"/>
          <p:nvPr/>
        </p:nvSpPr>
        <p:spPr>
          <a:xfrm>
            <a:off x="403123" y="4365523"/>
            <a:ext cx="666627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>
                <a:highlight>
                  <a:srgbClr val="00FFFF"/>
                </a:highlight>
              </a:rPr>
              <a:t>How UI and UX work together in Savana?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Ui attracts: beautiful product photo, clean </a:t>
            </a:r>
            <a:r>
              <a:rPr lang="en-IN" b="1" dirty="0" err="1"/>
              <a:t>layout,and</a:t>
            </a:r>
            <a:r>
              <a:rPr lang="en-IN" b="1" dirty="0"/>
              <a:t> animation make the app look premium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 err="1"/>
              <a:t>Ux</a:t>
            </a:r>
            <a:r>
              <a:rPr lang="en-IN" b="1" dirty="0"/>
              <a:t> keep you: ai try-on + smart recommendations solve the biggest online shopping problem: “Will this fit me?”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299F6C-D2D2-9E35-BAA0-A1009B2BEC7D}"/>
              </a:ext>
            </a:extLst>
          </p:cNvPr>
          <p:cNvSpPr txBox="1"/>
          <p:nvPr/>
        </p:nvSpPr>
        <p:spPr>
          <a:xfrm>
            <a:off x="403123" y="5954258"/>
            <a:ext cx="5299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highlight>
                  <a:srgbClr val="00FFFF"/>
                </a:highlight>
              </a:rPr>
              <a:t>Result</a:t>
            </a:r>
            <a:r>
              <a:rPr lang="en-IN" sz="2000" dirty="0">
                <a:highlight>
                  <a:srgbClr val="00FFFF"/>
                </a:highlight>
              </a:rPr>
              <a:t>: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b="1" dirty="0"/>
              <a:t>Users can browse easily.</a:t>
            </a:r>
          </a:p>
        </p:txBody>
      </p:sp>
    </p:spTree>
    <p:extLst>
      <p:ext uri="{BB962C8B-B14F-4D97-AF65-F5344CB8AC3E}">
        <p14:creationId xmlns:p14="http://schemas.microsoft.com/office/powerpoint/2010/main" val="3840587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6654E-F661-4D6C-E13A-BB38B3D4C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B78CEF-0530-63CC-06CE-6F2B3AC9D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987" y="1133168"/>
            <a:ext cx="4052581" cy="45916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B834592-0A6D-0DE1-3903-9A4736A77C22}"/>
              </a:ext>
            </a:extLst>
          </p:cNvPr>
          <p:cNvSpPr/>
          <p:nvPr/>
        </p:nvSpPr>
        <p:spPr>
          <a:xfrm>
            <a:off x="1452470" y="135645"/>
            <a:ext cx="74582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TEMPLE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RUN – UI VS UX</a:t>
            </a:r>
            <a:endParaRPr lang="en-IN" sz="5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8C75A0-ED4B-AB46-5562-B8BE8FC65911}"/>
              </a:ext>
            </a:extLst>
          </p:cNvPr>
          <p:cNvSpPr txBox="1"/>
          <p:nvPr/>
        </p:nvSpPr>
        <p:spPr>
          <a:xfrm>
            <a:off x="98323" y="948502"/>
            <a:ext cx="1683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highlight>
                  <a:srgbClr val="00FFFF"/>
                </a:highlight>
              </a:rPr>
              <a:t>Key UI elements: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B6A25-CA05-5C68-3C60-5D0DA53D8E4D}"/>
              </a:ext>
            </a:extLst>
          </p:cNvPr>
          <p:cNvSpPr txBox="1"/>
          <p:nvPr/>
        </p:nvSpPr>
        <p:spPr>
          <a:xfrm>
            <a:off x="98323" y="1317834"/>
            <a:ext cx="7138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US" b="1" dirty="0"/>
              <a:t>Gameplay Sunscreen - 3D view of character running forward. Left/Right/Swipe arrows are not shown. You just swipe.</a:t>
            </a:r>
          </a:p>
          <a:p>
            <a:pPr marL="400050" indent="-400050">
              <a:buFont typeface="+mj-lt"/>
              <a:buAutoNum type="romanLcPeriod"/>
            </a:pPr>
            <a:r>
              <a:rPr lang="en-US" b="1" dirty="0"/>
              <a:t>Controls UI - No buttons on screen during run. Swipe up=Jump, Swipe down=Slide, Tilt=Turn. Keeps screen clean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A5396-F645-1BBE-91A0-A385749D6B3B}"/>
              </a:ext>
            </a:extLst>
          </p:cNvPr>
          <p:cNvSpPr txBox="1"/>
          <p:nvPr/>
        </p:nvSpPr>
        <p:spPr>
          <a:xfrm>
            <a:off x="98323" y="259235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highlight>
                  <a:srgbClr val="00FFFF"/>
                </a:highlight>
              </a:rPr>
              <a:t>Key UX </a:t>
            </a:r>
            <a:r>
              <a:rPr lang="en-IN" b="1" u="sng" dirty="0">
                <a:highlight>
                  <a:srgbClr val="00FFFF"/>
                </a:highlight>
              </a:rPr>
              <a:t>features</a:t>
            </a:r>
            <a:r>
              <a:rPr lang="en-US" b="1" u="sng" dirty="0">
                <a:highlight>
                  <a:srgbClr val="00FFFF"/>
                </a:highlight>
              </a:rPr>
              <a:t> :</a:t>
            </a:r>
            <a:endParaRPr lang="en-IN" b="1" u="sng" dirty="0">
              <a:highlight>
                <a:srgbClr val="00FFFF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CAB9CB-3619-B6BF-95F3-97ED0689A071}"/>
              </a:ext>
            </a:extLst>
          </p:cNvPr>
          <p:cNvSpPr txBox="1"/>
          <p:nvPr/>
        </p:nvSpPr>
        <p:spPr>
          <a:xfrm>
            <a:off x="98323" y="2961688"/>
            <a:ext cx="7138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US" b="1" dirty="0"/>
              <a:t>One-hand gameplay - Only 4 swipes needed. Super easy to learn, hard to master. Perfect for mobile</a:t>
            </a:r>
          </a:p>
          <a:p>
            <a:pPr marL="400050" indent="-400050">
              <a:buFont typeface="+mj-lt"/>
              <a:buAutoNum type="romanLcPeriod"/>
            </a:pPr>
            <a:r>
              <a:rPr lang="en-US" b="1" dirty="0"/>
              <a:t>Feedback – Screen shake, sound effects, coin “ching” sound. Makes every action feel satisfying 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4F1B70-0184-6925-ED06-703DB5E0BBF2}"/>
              </a:ext>
            </a:extLst>
          </p:cNvPr>
          <p:cNvSpPr txBox="1"/>
          <p:nvPr/>
        </p:nvSpPr>
        <p:spPr>
          <a:xfrm>
            <a:off x="98323" y="4236210"/>
            <a:ext cx="447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highlight>
                  <a:srgbClr val="00FFFF"/>
                </a:highlight>
              </a:rPr>
              <a:t>How UI and UX work together in Temple Run?</a:t>
            </a:r>
            <a:endParaRPr lang="en-IN" b="1" u="sng" dirty="0">
              <a:highlight>
                <a:srgbClr val="00FFFF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94A28F-C96B-E840-B456-D05B2BD10973}"/>
              </a:ext>
            </a:extLst>
          </p:cNvPr>
          <p:cNvSpPr txBox="1"/>
          <p:nvPr/>
        </p:nvSpPr>
        <p:spPr>
          <a:xfrm>
            <a:off x="98323" y="4758393"/>
            <a:ext cx="7138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UI helps UX: Clean screen with no buttons means you can focus 100% on running and obstacles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UX needs UI: Bright coins and big obstacles are easy to see, so you can react fast with swipes.  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661E7-C79B-32E1-F5DC-0EA75B269551}"/>
              </a:ext>
            </a:extLst>
          </p:cNvPr>
          <p:cNvSpPr txBox="1"/>
          <p:nvPr/>
        </p:nvSpPr>
        <p:spPr>
          <a:xfrm>
            <a:off x="144780" y="5958722"/>
            <a:ext cx="64499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highlight>
                  <a:srgbClr val="00FFFF"/>
                </a:highlight>
              </a:rPr>
              <a:t>Result</a:t>
            </a:r>
            <a:r>
              <a:rPr lang="en-US" u="sng" dirty="0">
                <a:highlight>
                  <a:srgbClr val="00FFFF"/>
                </a:highlight>
              </a:rPr>
              <a:t>:  </a:t>
            </a:r>
            <a:r>
              <a:rPr lang="en-US" b="1" dirty="0"/>
              <a:t>The simple UI removes confusion. That’s why kids to adults play it for hours.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19934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235636-10DC-52A6-8205-50E572FB9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E338C-4F8F-57B6-ACB2-E58682E28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994" y="1130709"/>
            <a:ext cx="4267200" cy="52209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57E1E8-5F18-5637-956A-FDCFF29FB7CB}"/>
              </a:ext>
            </a:extLst>
          </p:cNvPr>
          <p:cNvSpPr/>
          <p:nvPr/>
        </p:nvSpPr>
        <p:spPr>
          <a:xfrm>
            <a:off x="2544737" y="44697"/>
            <a:ext cx="61782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 BUS – UI VS UX</a:t>
            </a:r>
            <a:endParaRPr lang="en-IN" sz="5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06F30-3FC1-6BBC-E9CF-FB8DCE88C6A0}"/>
              </a:ext>
            </a:extLst>
          </p:cNvPr>
          <p:cNvSpPr txBox="1"/>
          <p:nvPr/>
        </p:nvSpPr>
        <p:spPr>
          <a:xfrm>
            <a:off x="167148" y="914400"/>
            <a:ext cx="7118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highlight>
                  <a:srgbClr val="00FFFF"/>
                </a:highlight>
              </a:rPr>
              <a:t>Key UI elements:</a:t>
            </a:r>
            <a:endParaRPr lang="en-IN" sz="2000" b="1" u="sng" dirty="0">
              <a:highlight>
                <a:srgbClr val="00FFFF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8EA7E-9174-69DC-9CE6-B2EB9C225BE7}"/>
              </a:ext>
            </a:extLst>
          </p:cNvPr>
          <p:cNvSpPr txBox="1"/>
          <p:nvPr/>
        </p:nvSpPr>
        <p:spPr>
          <a:xfrm>
            <a:off x="196645" y="1258980"/>
            <a:ext cx="7285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US" b="1" dirty="0"/>
              <a:t>Home Screen Search Bar- Big “From”, “To”, “Date” boxes at the top. CTA button: “Search Buses” in red.</a:t>
            </a:r>
          </a:p>
          <a:p>
            <a:pPr marL="400050" indent="-400050">
              <a:buFont typeface="+mj-lt"/>
              <a:buAutoNum type="romanLcPeriod"/>
            </a:pPr>
            <a:r>
              <a:rPr lang="en-US" b="1" dirty="0"/>
              <a:t>Brand Colors- Red + White them. Builds trust and brand recall.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E6E3AF-0937-345F-485D-4F9B0C15D9A0}"/>
              </a:ext>
            </a:extLst>
          </p:cNvPr>
          <p:cNvSpPr txBox="1"/>
          <p:nvPr/>
        </p:nvSpPr>
        <p:spPr>
          <a:xfrm>
            <a:off x="196645" y="2326835"/>
            <a:ext cx="2684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highlight>
                  <a:srgbClr val="00FFFF"/>
                </a:highlight>
              </a:rPr>
              <a:t>Key UX </a:t>
            </a:r>
            <a:r>
              <a:rPr lang="en-IN" sz="2000" b="1" u="sng" dirty="0">
                <a:highlight>
                  <a:srgbClr val="00FFFF"/>
                </a:highlight>
              </a:rPr>
              <a:t>features </a:t>
            </a:r>
            <a:r>
              <a:rPr lang="en-US" sz="2000" b="1" u="sng" dirty="0">
                <a:highlight>
                  <a:srgbClr val="00FFFF"/>
                </a:highlight>
              </a:rPr>
              <a:t>:</a:t>
            </a:r>
            <a:endParaRPr lang="en-IN" sz="2000" b="1" u="sng" dirty="0">
              <a:highlight>
                <a:srgbClr val="00FFFF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7F73B3-1FE1-7F85-A898-E257F34D7DB4}"/>
              </a:ext>
            </a:extLst>
          </p:cNvPr>
          <p:cNvSpPr txBox="1"/>
          <p:nvPr/>
        </p:nvSpPr>
        <p:spPr>
          <a:xfrm>
            <a:off x="216309" y="2726945"/>
            <a:ext cx="7246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IN" b="1" dirty="0"/>
              <a:t>Fast Search + Filters- Find buses in 3 clicks. Filters for AC, Sleeper, Ratings, Boarding points save time.</a:t>
            </a:r>
          </a:p>
          <a:p>
            <a:pPr marL="400050" indent="-400050">
              <a:buFont typeface="+mj-lt"/>
              <a:buAutoNum type="romanLcPeriod"/>
            </a:pPr>
            <a:r>
              <a:rPr lang="en-IN" b="1" dirty="0"/>
              <a:t>Live Bus Tracking- See real-time bus location after booking. Reduces anxiety.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EBCE2-6FC8-F3E7-DA17-A54C4E466EF7}"/>
              </a:ext>
            </a:extLst>
          </p:cNvPr>
          <p:cNvSpPr txBox="1"/>
          <p:nvPr/>
        </p:nvSpPr>
        <p:spPr>
          <a:xfrm>
            <a:off x="167148" y="3927274"/>
            <a:ext cx="4689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highlight>
                  <a:srgbClr val="00FFFF"/>
                </a:highlight>
              </a:rPr>
              <a:t>How UI and UX work together in Red Bus?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B6953-6B80-AA5D-9B6E-3D6E5E5E24D2}"/>
              </a:ext>
            </a:extLst>
          </p:cNvPr>
          <p:cNvSpPr txBox="1"/>
          <p:nvPr/>
        </p:nvSpPr>
        <p:spPr>
          <a:xfrm>
            <a:off x="216309" y="4340888"/>
            <a:ext cx="6735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UI helps UX: The seat map UI makes it easy to choose “window seat” without confusion. Red  </a:t>
            </a:r>
            <a:r>
              <a:rPr lang="en-IN" b="1" dirty="0" err="1"/>
              <a:t>color</a:t>
            </a:r>
            <a:r>
              <a:rPr lang="en-IN" b="1" dirty="0"/>
              <a:t> for selected seat = instant feedback.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UX needs UI: Clean bus cards with rating + price upfront help users decide in 10 seconds instead of calling agents.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E31B76-A1F7-FD7C-CC37-76641828872F}"/>
              </a:ext>
            </a:extLst>
          </p:cNvPr>
          <p:cNvSpPr txBox="1"/>
          <p:nvPr/>
        </p:nvSpPr>
        <p:spPr>
          <a:xfrm>
            <a:off x="275302" y="5692877"/>
            <a:ext cx="59091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highlight>
                  <a:srgbClr val="00FFFF"/>
                </a:highlight>
              </a:rPr>
              <a:t>Result:</a:t>
            </a:r>
            <a:r>
              <a:rPr lang="en-IN" dirty="0"/>
              <a:t> </a:t>
            </a:r>
            <a:r>
              <a:rPr lang="en-IN" b="1" dirty="0"/>
              <a:t>Because UI is simple and UX builds trust, people prefer booking on Red Bus instead of at the bus stand.</a:t>
            </a:r>
          </a:p>
        </p:txBody>
      </p:sp>
    </p:spTree>
    <p:extLst>
      <p:ext uri="{BB962C8B-B14F-4D97-AF65-F5344CB8AC3E}">
        <p14:creationId xmlns:p14="http://schemas.microsoft.com/office/powerpoint/2010/main" val="3436912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10D2D8-BF94-1073-82F8-0086ADDEB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8B87F4-D4A9-8FED-7202-184CBC1DF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284" y="1219199"/>
            <a:ext cx="3137535" cy="52897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550357-FAD0-E37A-FC49-BBBD999B0702}"/>
              </a:ext>
            </a:extLst>
          </p:cNvPr>
          <p:cNvSpPr/>
          <p:nvPr/>
        </p:nvSpPr>
        <p:spPr>
          <a:xfrm>
            <a:off x="2471253" y="174973"/>
            <a:ext cx="58336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PURPLE – UI VS UX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9810F-BEF6-F512-1EAC-DA12C8C691FF}"/>
              </a:ext>
            </a:extLst>
          </p:cNvPr>
          <p:cNvSpPr txBox="1"/>
          <p:nvPr/>
        </p:nvSpPr>
        <p:spPr>
          <a:xfrm>
            <a:off x="196644" y="898248"/>
            <a:ext cx="7344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highlight>
                  <a:srgbClr val="00FFFF"/>
                </a:highlight>
              </a:rPr>
              <a:t>Key UI elements: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2E91C1-DF7E-8E39-AB41-3C7FDCDBB5C8}"/>
              </a:ext>
            </a:extLst>
          </p:cNvPr>
          <p:cNvSpPr txBox="1"/>
          <p:nvPr/>
        </p:nvSpPr>
        <p:spPr>
          <a:xfrm>
            <a:off x="255639" y="1359913"/>
            <a:ext cx="8121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IN" b="1" dirty="0"/>
              <a:t>Brand </a:t>
            </a:r>
            <a:r>
              <a:rPr lang="en-IN" b="1" dirty="0" err="1"/>
              <a:t>color</a:t>
            </a:r>
            <a:r>
              <a:rPr lang="en-IN" b="1" dirty="0"/>
              <a:t> System- Purple + White + Soft gradients. Gives a premium, calm, modern feel.</a:t>
            </a:r>
          </a:p>
          <a:p>
            <a:pPr marL="400050" indent="-400050">
              <a:buFont typeface="+mj-lt"/>
              <a:buAutoNum type="romanLcPeriod"/>
            </a:pPr>
            <a:r>
              <a:rPr lang="en-IN" b="1" dirty="0"/>
              <a:t>Clean Typography- Rounded, friendly fonts. Lots of white space to avoid white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E69C1B-D72E-D13E-F04C-1A7CDBDEF83B}"/>
              </a:ext>
            </a:extLst>
          </p:cNvPr>
          <p:cNvSpPr txBox="1"/>
          <p:nvPr/>
        </p:nvSpPr>
        <p:spPr>
          <a:xfrm>
            <a:off x="196644" y="2344798"/>
            <a:ext cx="2713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highlight>
                  <a:srgbClr val="00FFFF"/>
                </a:highlight>
              </a:rPr>
              <a:t>Key UX features: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0D6F7-536E-CFCA-DF24-5F9C7CF928CF}"/>
              </a:ext>
            </a:extLst>
          </p:cNvPr>
          <p:cNvSpPr txBox="1"/>
          <p:nvPr/>
        </p:nvSpPr>
        <p:spPr>
          <a:xfrm>
            <a:off x="255639" y="2828835"/>
            <a:ext cx="7816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IN" b="1" dirty="0"/>
              <a:t>Low Friction Actions- 1-tap like, 1-tap add to cart, Guest checkout. Reduces drop-offs.</a:t>
            </a:r>
          </a:p>
          <a:p>
            <a:pPr marL="400050" indent="-400050">
              <a:buFont typeface="+mj-lt"/>
              <a:buAutoNum type="romanLcPeriod"/>
            </a:pPr>
            <a:r>
              <a:rPr lang="en-IN" b="1" dirty="0"/>
              <a:t>Accessibility- High contrast purple om white, large tap targets, works on low network.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71F2BF-7A4D-444B-0147-B14E7A633105}"/>
              </a:ext>
            </a:extLst>
          </p:cNvPr>
          <p:cNvSpPr txBox="1"/>
          <p:nvPr/>
        </p:nvSpPr>
        <p:spPr>
          <a:xfrm>
            <a:off x="206477" y="4039568"/>
            <a:ext cx="5889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highlight>
                  <a:srgbClr val="00FFFF"/>
                </a:highlight>
              </a:rPr>
              <a:t>How UI and UX work together in Purple?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7306AE-1566-FA42-E55D-8185BC12CDF5}"/>
              </a:ext>
            </a:extLst>
          </p:cNvPr>
          <p:cNvSpPr txBox="1"/>
          <p:nvPr/>
        </p:nvSpPr>
        <p:spPr>
          <a:xfrm>
            <a:off x="157316" y="4513201"/>
            <a:ext cx="7816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UI attracts: The calming purple </a:t>
            </a:r>
            <a:r>
              <a:rPr lang="en-IN" b="1" dirty="0" err="1"/>
              <a:t>color</a:t>
            </a:r>
            <a:r>
              <a:rPr lang="en-IN" b="1" dirty="0"/>
              <a:t> makes users feel relaxed and premium, not pushy.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UX retains: Personalized recommendations + easy checkout/trail makes people actually buy or match</a:t>
            </a:r>
            <a:r>
              <a:rPr lang="en-IN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F03012-A7D5-6B12-97ED-37CFB7801E8F}"/>
              </a:ext>
            </a:extLst>
          </p:cNvPr>
          <p:cNvSpPr txBox="1"/>
          <p:nvPr/>
        </p:nvSpPr>
        <p:spPr>
          <a:xfrm>
            <a:off x="235974" y="5869857"/>
            <a:ext cx="79051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highlight>
                  <a:srgbClr val="00FFFF"/>
                </a:highlight>
              </a:rPr>
              <a:t>Result: </a:t>
            </a:r>
            <a:r>
              <a:rPr lang="en-IN" b="1" dirty="0"/>
              <a:t>UI creates the “Purple brand vibe” and UX delivers the promise of “comfort + simplicity”</a:t>
            </a:r>
          </a:p>
        </p:txBody>
      </p:sp>
    </p:spTree>
    <p:extLst>
      <p:ext uri="{BB962C8B-B14F-4D97-AF65-F5344CB8AC3E}">
        <p14:creationId xmlns:p14="http://schemas.microsoft.com/office/powerpoint/2010/main" val="3631211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D320E2-9C08-9B4B-5030-57A5B3AA9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61C2D-AA4B-2B3D-6F6D-0A647FE96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681" y="963561"/>
            <a:ext cx="3137535" cy="56437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CD7828-7988-FA6C-B564-C6AE1CE5E467}"/>
              </a:ext>
            </a:extLst>
          </p:cNvPr>
          <p:cNvSpPr/>
          <p:nvPr/>
        </p:nvSpPr>
        <p:spPr>
          <a:xfrm>
            <a:off x="1914545" y="145477"/>
            <a:ext cx="75370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APOLLO 24/7 – UI VS UX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AC0BA-FD14-D0CB-EC1F-404EF5CC642E}"/>
              </a:ext>
            </a:extLst>
          </p:cNvPr>
          <p:cNvSpPr txBox="1"/>
          <p:nvPr/>
        </p:nvSpPr>
        <p:spPr>
          <a:xfrm>
            <a:off x="245805" y="963561"/>
            <a:ext cx="8495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highlight>
                  <a:srgbClr val="00FFFF"/>
                </a:highlight>
              </a:rPr>
              <a:t>Key UI elements: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FE62E-362D-3737-6376-0A0091FB8F68}"/>
              </a:ext>
            </a:extLst>
          </p:cNvPr>
          <p:cNvSpPr txBox="1"/>
          <p:nvPr/>
        </p:nvSpPr>
        <p:spPr>
          <a:xfrm>
            <a:off x="245806" y="1363671"/>
            <a:ext cx="8495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IN" b="1" dirty="0"/>
              <a:t>Home Dashboard- 4 big cards: Consult Doctors, Order Medicines, Book Lab Tests, Health Records. Green + White theme for trust</a:t>
            </a:r>
          </a:p>
          <a:p>
            <a:pPr marL="400050" indent="-400050">
              <a:buFont typeface="+mj-lt"/>
              <a:buAutoNum type="romanLcPeriod"/>
            </a:pPr>
            <a:r>
              <a:rPr lang="en-IN" b="1" dirty="0"/>
              <a:t>Doctor Cards- Photo, Name, Specialization, Experience, Fees, Rating, “Next Available” slot. Easy to scan.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EA5E8-3C1D-E5D9-AC46-A94CC8034D34}"/>
              </a:ext>
            </a:extLst>
          </p:cNvPr>
          <p:cNvSpPr txBox="1"/>
          <p:nvPr/>
        </p:nvSpPr>
        <p:spPr>
          <a:xfrm>
            <a:off x="245805" y="2564000"/>
            <a:ext cx="4778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highlight>
                  <a:srgbClr val="00FFFF"/>
                </a:highlight>
              </a:rPr>
              <a:t>Key UX features: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86FF6-818C-FE4D-A391-5D4F7B5AFAC3}"/>
              </a:ext>
            </a:extLst>
          </p:cNvPr>
          <p:cNvSpPr txBox="1"/>
          <p:nvPr/>
        </p:nvSpPr>
        <p:spPr>
          <a:xfrm>
            <a:off x="245805" y="3085109"/>
            <a:ext cx="8357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IN" b="1" dirty="0"/>
              <a:t>3-Step Booking- Select doctor&gt;Choose slot&gt; Pay. Can be done in&lt;60 seconds</a:t>
            </a:r>
          </a:p>
          <a:p>
            <a:pPr marL="400050" indent="-400050">
              <a:buFont typeface="+mj-lt"/>
              <a:buAutoNum type="romanLcPeriod"/>
            </a:pPr>
            <a:r>
              <a:rPr lang="en-IN" b="1" dirty="0"/>
              <a:t>Consult Options- Video, Chat, and In-person. Instant15min doctor chat for emergencies.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3F4AD-CFFB-97FA-71D0-51DAABE925BB}"/>
              </a:ext>
            </a:extLst>
          </p:cNvPr>
          <p:cNvSpPr txBox="1"/>
          <p:nvPr/>
        </p:nvSpPr>
        <p:spPr>
          <a:xfrm>
            <a:off x="334297" y="4008439"/>
            <a:ext cx="7138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highlight>
                  <a:srgbClr val="00FFFF"/>
                </a:highlight>
              </a:rPr>
              <a:t>How UI and UX work together in Apollo 24/7?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DE88A-B4CB-71FC-9C33-78A5F195AF51}"/>
              </a:ext>
            </a:extLst>
          </p:cNvPr>
          <p:cNvSpPr txBox="1"/>
          <p:nvPr/>
        </p:nvSpPr>
        <p:spPr>
          <a:xfrm>
            <a:off x="334297" y="4529548"/>
            <a:ext cx="7423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UI helps UX: Big “Consult Now” button + doctor ratings UI helps users decide fast during emergencies.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UX needs UI: Clean medicine page with “Add to Cart” + prescription upload reduces errors.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A558C3-887A-E037-9E9E-4EDA5F3DE296}"/>
              </a:ext>
            </a:extLst>
          </p:cNvPr>
          <p:cNvSpPr txBox="1"/>
          <p:nvPr/>
        </p:nvSpPr>
        <p:spPr>
          <a:xfrm>
            <a:off x="334297" y="5801827"/>
            <a:ext cx="815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highlight>
                  <a:srgbClr val="00FFFF"/>
                </a:highlight>
              </a:rPr>
              <a:t>Result:</a:t>
            </a:r>
            <a:r>
              <a:rPr lang="en-IN" dirty="0"/>
              <a:t> </a:t>
            </a:r>
            <a:r>
              <a:rPr lang="en-IN" b="1" dirty="0"/>
              <a:t>Because UI looks professional and UX removes hospital queues, people use it</a:t>
            </a:r>
          </a:p>
          <a:p>
            <a:r>
              <a:rPr lang="en-IN" b="1" dirty="0"/>
              <a:t>for quick queues, people use it for quick consults + lab tests at home.</a:t>
            </a:r>
          </a:p>
        </p:txBody>
      </p:sp>
    </p:spTree>
    <p:extLst>
      <p:ext uri="{BB962C8B-B14F-4D97-AF65-F5344CB8AC3E}">
        <p14:creationId xmlns:p14="http://schemas.microsoft.com/office/powerpoint/2010/main" val="100732641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{BBFE3CF7-FD38-4E58-AECD-84C89CF213F8}TF1ed9553b-00c4-4092-846a-c8f7f2908f3beecd942f_win32-8e33096c3cfc</Template>
  <TotalTime>671</TotalTime>
  <Words>1036</Words>
  <Application>Microsoft Office PowerPoint</Application>
  <PresentationFormat>Widescreen</PresentationFormat>
  <Paragraphs>87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UI   VS   UX</vt:lpstr>
      <vt:lpstr>WHAT  DO  UI  AND  UX  MEAN?</vt:lpstr>
      <vt:lpstr>What is UI  (User Interface)? </vt:lpstr>
      <vt:lpstr>  UX  Stands for User Experience. It means how a person feels and reacts when they use a product, system, or service. It covers ease of use, speed, and overall satisfaction.  Key parts of UX: 1.  Ease of use: How simple it is to do a task without confusion. 2.  Usefulness: Whether the product solves a real problem for the user.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core</dc:creator>
  <cp:lastModifiedBy>hp core</cp:lastModifiedBy>
  <cp:revision>5</cp:revision>
  <dcterms:created xsi:type="dcterms:W3CDTF">2026-08-16T13:44:00Z</dcterms:created>
  <dcterms:modified xsi:type="dcterms:W3CDTF">2026-08-26T15:09:09Z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